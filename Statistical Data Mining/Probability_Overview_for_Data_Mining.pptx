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F3A"/>
                </a:solidFill>
                <a:latin typeface="Arial"/>
              </a:defRPr>
            </a:pPr>
            <a:r>
              <a:rPr sz="1400" b="0" i="0" u="none" strike="noStrike">
                <a:solidFill>
                  <a:srgbClr val="0B2F3A"/>
                </a:solidFill>
                <a:latin typeface="Arial"/>
              </a:rPr>
              <a:t>People flagged per 10,000 screened</a:t>
            </a:r>
          </a:p>
        </c:rich>
      </c:tx>
      <c:layout/>
      <c:overlay val="0"/>
    </c:title>
    <c:autoTitleDeleted val="0"/>
    <c:plotArea>
      <c:layout/>
      <c:barChart>
        <c:barDir val="col"/>
        <c:grouping val="clustered"/>
        <c:varyColors val="0"/>
        <c:ser>
          <c:idx val="0"/>
          <c:order val="0"/>
          <c:tx>
            <c:strRef>
              <c:f>Sheet1!$B$1</c:f>
              <c:strCache>
                <c:ptCount val="1"/>
                <c:pt idx="0">
                  <c:v>People flagged</c:v>
                </c:pt>
              </c:strCache>
            </c:strRef>
          </c:tx>
          <c:spPr>
            <a:solidFill>
              <a:srgbClr val="1B998B"/>
            </a:solidFill>
            <a:effectLst/>
          </c:spPr>
          <c:invertIfNegative val="0"/>
          <c:dLbls>
            <c:numFmt formatCode="#,##0" sourceLinked="0"/>
            <c:txPr>
              <a:bodyPr/>
              <a:lstStyle/>
              <a:p>
                <a:pPr>
                  <a:defRPr b="0" i="0" strike="noStrike" sz="1400" u="none">
                    <a:solidFill>
                      <a:srgbClr val="0B2F3A"/>
                    </a:solidFill>
                    <a:latin typeface="Arial"/>
                  </a:defRPr>
                </a:pPr>
              </a:p>
            </c:txPr>
            <c:showLegendKey val="0"/>
            <c:showVal val="1"/>
            <c:showCatName val="0"/>
            <c:showSerName val="0"/>
            <c:showPercent val="0"/>
            <c:showBubbleSize val="0"/>
            <c:showLeaderLines val="0"/>
          </c:dLbls>
          <c:dPt>
            <c:idx val="0"/>
            <c:invertIfNegative val="0"/>
            <c:bubble3D val="0"/>
            <c:spPr>
              <a:solidFill>
                <a:srgbClr val="1B998B"/>
              </a:solidFill>
              <a:effectLst/>
            </c:spPr>
          </c:dPt>
          <c:dPt>
            <c:idx val="1"/>
            <c:invertIfNegative val="0"/>
            <c:bubble3D val="0"/>
            <c:spPr>
              <a:solidFill>
                <a:srgbClr val="E4572E"/>
              </a:solidFill>
              <a:effectLst/>
            </c:spPr>
          </c:dPt>
          <c:cat>
            <c:multiLvlStrRef>
              <c:f>Sheet1!$A$2:$A$3</c:f>
              <c:multiLvlStrCache>
                <c:ptCount val="2"/>
                <c:lvl>
                  <c:pt idx="0">
                    <c:v>True positives</c:v>
                  </c:pt>
                  <c:pt idx="1">
                    <c:v>False positives</c:v>
                  </c:pt>
                </c:lvl>
              </c:multiLvlStrCache>
            </c:multiLvlStrRef>
          </c:cat>
          <c:val>
            <c:numRef>
              <c:f>Sheet1!$B$2:$B$3</c:f>
              <c:numCache>
                <c:formatCode>General</c:formatCode>
                <c:ptCount val="2"/>
                <c:pt idx="0">
                  <c:v>95</c:v>
                </c:pt>
                <c:pt idx="1">
                  <c:v>495</c:v>
                </c:pt>
              </c:numCache>
            </c:numRef>
          </c:val>
        </c:ser>
        <c:dLbls>
          <c:numFmt formatCode="#,##0" sourceLinked="0"/>
          <c:txPr>
            <a:bodyPr/>
            <a:lstStyle/>
            <a:p>
              <a:pPr>
                <a:defRPr b="0" i="0" strike="noStrike" sz="1400" u="none">
                  <a:solidFill>
                    <a:srgbClr val="0B2F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6222E"/>
                </a:solidFill>
                <a:latin typeface="Arial"/>
              </a:defRPr>
            </a:pPr>
            <a:endParaRPr lang="en-US"/>
          </a:p>
        </c:txPr>
        <c:crossAx val="2094734552"/>
        <c:crosses val="autoZero"/>
        <c:auto val="1"/>
        <c:lblAlgn val="ctr"/>
        <c:noMultiLvlLbl val="1"/>
      </c:catAx>
      <c:valAx>
        <c:axId val="2094734552"/>
        <c:scaling>
          <c:orientation val="minMax"/>
          <c:max val="600"/>
        </c:scaling>
        <c:delete val="0"/>
        <c:axPos val="l"/>
        <c:majorGridlines>
          <c:spPr>
            <a:ln w="9525" cap="flat">
              <a:solidFill>
                <a:srgbClr val="EAF2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F8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This overview shows where probability sits inside data mining. It is aimed at readers who already know the individual topics, so the focus is on where each idea shows up in practice: classification, association rules, clustering, evaluation and the common pitfalls.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probability]
Data mining works on samples of a larger reality. Probability tells us how much of what we see could be chance. It gives us a way to fit models, by likelihood or by Bayesian updating, and a way to judge whether a discovered pattern deserves trust. Almost every method can be read as a probability model, an estimator of one, or a check on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blocks]
Six ideas carry most of the load. Events and the axioms give the language. Conditional probability and independence underlie association rules, naive Bayes and trees. Bayes' theorem turns evidence into a classification. Random variables and distributions describe the data. Expectation, variance and covariance support regression and PCA. And the law of large numbers and central limit theorem explain why averages stabilise and why intervals and tests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[Bayes' theorem]
Classification comes down to this line. The posterior is the probability of a class after seeing the features. It equals the likelihood times the prior, divided by the evidence. Naive Bayes assumes the features are independent given the class, which makes the likelihood easy to compute. Regularisation can also be read as a prior on the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[Distributions]
A few distributions cover a large share of practical work. Bernoulli and binomial for yes-no outcomes. Poisson for counts. The normal for noise and for sums. The multinomial for text and categories. Exponential and Weibull for time to event. Choosing the wrong family is a common source of poor models, so check the data against the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[Tasks]
Here is the map from task to probability idea. Classification uses posteriors. Association rules use support, confidence and lift. Clustering with mixture models treats each cluster as a distribution and gives membership probabilities. Regression models the conditional expectation. Anomaly detection flags low-likelihood points. Time series and sequences use Markov and hidden Markov models. Text mining uses multinomial and topic models. Recommenders use probabilistic factorisation.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[Association rules]
Association rule mining is conditional probability in disguise. Support is the joint probability of the itemset. Confidence is the conditional probability of the consequent given the antecedent. Lift divides confidence by the base rate of the consequent, so it tells you whether the rule is better than chance. A rule with high confidence but a lift near 1 says nothing, because the consequent was common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[Estimation]
Most models are fitted by maximum likelihood or by computing a posterior. The EM algorithm handles hidden structure. The bootstrap and cross-validation give us error estimates when theory is intractable. And because data mining examines thousands of patterns, multiple comparisons are unavoidable: false discovery rate control, such as Benjamini and Hochberg, or Bonferroni-type corrections, keep chance findings from being reported as discoveries.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Evaluation metrics have probabilistic meanings. AUC is the probability that a randomly chosen positive is ranked above a randomly chosen negative. Calibration asks whether predicted probabilities match observed frequencies; good classifiers can be badly calibrated. Base rates matter enormously for rare events, as the next slide shows. And the gap between training and test error reflects overfitting, which is a bias-variance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[Base-rate example]
Suppose a condition affects 1 percent of people, a test detects 95 percent of true cases, and gives a false alarm for 5 percent of healthy people. Screen 10,000 people. About 100 have the condition and the test catches 95 of them. Of the 9,900 healthy people, 5 percent, or 495, are flagged wrongly. So 590 people are flagged, and only 95, about 16 percent, are truly positive. By Bayes' theorem, the posterior is 0.0095 divided by 0.059. Accuracy alone would look excellent, yet most flags are false alarms. Always report precision alongside recall when events are rare.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[Pitfalls]
Six common errors. Assuming independence when it fails. Confusing a conditional probability with its inverse, the prosecutor's fallacy. Believing that more data cures bias; it does not. Using the same data to generate and test hypotheses. Treating association as causation. And reporting point predictions with no measure of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Probability tells data mining what the data could look like by chance, so that what we find can be separated from what we merely see. Keep the building blocks in mind, remember where each appears in the tasks, and be careful with base rates, multiple testing and independence assumptions. Questions are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5852160" cy="210312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3" name="Text 0"/>
          <p:cNvSpPr/>
          <p:nvPr>
            <p:ph idx="101" type="body" hasCustomPrompt="1"/>
          </p:nvPr>
        </p:nvSpPr>
        <p:spPr>
          <a:xfrm>
            <a:off x="640080" y="3337560"/>
            <a:ext cx="5852160" cy="9144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9144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5852160" cy="2103120"/>
          </a:xfrm>
          <a:prstGeom prst="rect">
            <a:avLst/>
          </a:prstGeom>
          <a:noFill/>
          <a:ln/>
        </p:spPr>
        <p:txBody>
          <a:bodyPr wrap="square" lIns="0" tIns="0" rIns="0" bIns="0" rtlCol="0" anchor="ctr"/>
          <a:lstStyle/>
          <a:p>
            <a:pPr algn="l" indent="0" marL="0">
              <a:buNone/>
            </a:pPr>
            <a:r>
              <a:rPr lang="en-US" sz="4200" b="1" dirty="0">
                <a:solidFill>
                  <a:schemeClr val="bg1"/>
                </a:solidFill>
              </a:rPr>
              <a:t>Probability Overview for Data Mining</a:t>
            </a:r>
            <a:endParaRPr lang="en-US" sz="4200" dirty="0"/>
          </a:p>
        </p:txBody>
      </p:sp>
      <p:sp>
        <p:nvSpPr>
          <p:cNvPr id="3" name="Text 0"/>
          <p:cNvSpPr/>
          <p:nvPr>
            <p:ph idx="101" type="body" hasCustomPrompt="1"/>
          </p:nvPr>
        </p:nvSpPr>
        <p:spPr>
          <a:xfrm>
            <a:off x="640080" y="3337560"/>
            <a:ext cx="5852160" cy="914400"/>
          </a:xfrm>
          <a:prstGeom prst="rect">
            <a:avLst/>
          </a:prstGeom>
          <a:noFill/>
          <a:ln/>
        </p:spPr>
        <p:txBody>
          <a:bodyPr wrap="square" lIns="0" tIns="0" rIns="0" bIns="0" rtlCol="0" anchor="t"/>
          <a:lstStyle/>
          <a:p>
            <a:pPr algn="l" indent="0" marL="0">
              <a:buNone/>
            </a:pPr>
            <a:r>
              <a:rPr lang="en-US" sz="1800" dirty="0">
                <a:solidFill>
                  <a:schemeClr val="bg2"/>
                </a:solidFill>
              </a:rPr>
              <a:t>Where uncertainty enters, and how to reason about it</a:t>
            </a:r>
            <a:endParaRPr lang="en-US" sz="1800" dirty="0"/>
          </a:p>
        </p:txBody>
      </p:sp>
      <p:sp>
        <p:nvSpPr>
          <p:cNvPr id="4" name="Motif large circle"/>
          <p:cNvSpPr/>
          <p:nvPr/>
        </p:nvSpPr>
        <p:spPr>
          <a:xfrm>
            <a:off x="6675120" y="822960"/>
            <a:ext cx="2651760" cy="2651760"/>
          </a:xfrm>
          <a:prstGeom prst="ellipse">
            <a:avLst/>
          </a:prstGeom>
          <a:solidFill>
            <a:schemeClr val="accent1">
              <a:alpha val="88000"/>
            </a:schemeClr>
          </a:solidFill>
          <a:ln w="12700">
            <a:solidFill>
              <a:schemeClr val="accent1"/>
            </a:solidFill>
            <a:prstDash val="solid"/>
          </a:ln>
        </p:spPr>
      </p:sp>
      <p:sp>
        <p:nvSpPr>
          <p:cNvPr id="5" name="Motif small circle"/>
          <p:cNvSpPr/>
          <p:nvPr/>
        </p:nvSpPr>
        <p:spPr>
          <a:xfrm>
            <a:off x="7635240" y="3246120"/>
            <a:ext cx="1097280" cy="1097280"/>
          </a:xfrm>
          <a:prstGeom prst="ellipse">
            <a:avLst/>
          </a:prstGeom>
          <a:solidFill>
            <a:schemeClr val="accent2">
              <a:alpha val="85000"/>
            </a:schemeClr>
          </a:solidFill>
          <a:ln w="12700">
            <a:solidFill>
              <a:schemeClr val="accent2"/>
            </a:solidFill>
            <a:prstDash val="solid"/>
          </a:ln>
        </p:spPr>
      </p:sp>
      <p:pic>
        <p:nvPicPr>
          <p:cNvPr id="6" name="Motif icon" descr="Bar chart icon">    </p:cNvPr>
          <p:cNvPicPr>
            <a:picLocks noChangeAspect="1"/>
          </p:cNvPicPr>
          <p:nvPr/>
        </p:nvPicPr>
        <p:blipFill>
          <a:blip r:embed="rId1"/>
          <a:stretch>
            <a:fillRect/>
          </a:stretch>
        </p:blipFill>
        <p:spPr>
          <a:xfrm>
            <a:off x="7269480" y="1417320"/>
            <a:ext cx="1463040" cy="1463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914400"/>
          </a:xfrm>
          <a:prstGeom prst="rect">
            <a:avLst/>
          </a:prstGeom>
          <a:noFill/>
          <a:ln/>
        </p:spPr>
        <p:txBody>
          <a:bodyPr wrap="square" lIns="0" tIns="0" rIns="0" bIns="0" rtlCol="0" anchor="ctr"/>
          <a:lstStyle/>
          <a:p>
            <a:pPr algn="l" indent="0" marL="0">
              <a:buNone/>
            </a:pPr>
            <a:r>
              <a:rPr lang="en-US" sz="3200" b="1" dirty="0">
                <a:solidFill>
                  <a:schemeClr val="tx2"/>
                </a:solidFill>
              </a:rPr>
              <a:t>Why probability?</a:t>
            </a:r>
            <a:endParaRPr lang="en-US" sz="3200" dirty="0"/>
          </a:p>
        </p:txBody>
      </p:sp>
      <p:sp>
        <p:nvSpPr>
          <p:cNvPr id="3" name="Model uncertainty card"/>
          <p:cNvSpPr/>
          <p:nvPr/>
        </p:nvSpPr>
        <p:spPr>
          <a:xfrm>
            <a:off x="548640" y="1463040"/>
            <a:ext cx="2560320" cy="2011680"/>
          </a:xfrm>
          <a:prstGeom prst="roundRect">
            <a:avLst>
              <a:gd name="adj" fmla="val 3636"/>
            </a:avLst>
          </a:prstGeom>
          <a:solidFill>
            <a:schemeClr val="bg2"/>
          </a:solidFill>
          <a:ln w="12700">
            <a:solidFill>
              <a:schemeClr val="bg2"/>
            </a:solidFill>
            <a:prstDash val="solid"/>
          </a:ln>
        </p:spPr>
      </p:sp>
      <p:sp>
        <p:nvSpPr>
          <p:cNvPr id="4" name="Model uncertainty circle"/>
          <p:cNvSpPr/>
          <p:nvPr/>
        </p:nvSpPr>
        <p:spPr>
          <a:xfrm>
            <a:off x="713232" y="1627632"/>
            <a:ext cx="475488" cy="475488"/>
          </a:xfrm>
          <a:prstGeom prst="ellipse">
            <a:avLst/>
          </a:prstGeom>
          <a:solidFill>
            <a:schemeClr val="accent1"/>
          </a:solidFill>
          <a:ln w="12700">
            <a:solidFill>
              <a:schemeClr val="accent1"/>
            </a:solidFill>
            <a:prstDash val="solid"/>
          </a:ln>
        </p:spPr>
      </p:sp>
      <p:pic>
        <p:nvPicPr>
          <p:cNvPr id="5" name="Model uncertainty icon" descr="Model uncertainty icon">    </p:cNvPr>
          <p:cNvPicPr>
            <a:picLocks noChangeAspect="1"/>
          </p:cNvPicPr>
          <p:nvPr/>
        </p:nvPicPr>
        <p:blipFill>
          <a:blip r:embed="rId1"/>
          <a:stretch>
            <a:fillRect/>
          </a:stretch>
        </p:blipFill>
        <p:spPr>
          <a:xfrm>
            <a:off x="827349" y="1741749"/>
            <a:ext cx="247254" cy="247254"/>
          </a:xfrm>
          <a:prstGeom prst="rect">
            <a:avLst/>
          </a:prstGeom>
        </p:spPr>
      </p:pic>
      <p:sp>
        <p:nvSpPr>
          <p:cNvPr id="6" name="Model uncertainty title"/>
          <p:cNvSpPr txBox="1"/>
          <p:nvPr/>
        </p:nvSpPr>
        <p:spPr>
          <a:xfrm>
            <a:off x="713232" y="2176272"/>
            <a:ext cx="2286000" cy="310896"/>
          </a:xfrm>
          <a:prstGeom prst="rect">
            <a:avLst/>
          </a:prstGeom>
          <a:noFill/>
          <a:ln/>
        </p:spPr>
        <p:txBody>
          <a:bodyPr wrap="square" lIns="0" tIns="0" rIns="0" bIns="0" rtlCol="0" anchor="ctr"/>
          <a:lstStyle/>
          <a:p>
            <a:pPr indent="0" marL="0">
              <a:buNone/>
            </a:pPr>
            <a:r>
              <a:rPr lang="en-US" sz="1600" b="1" dirty="0">
                <a:solidFill>
                  <a:schemeClr val="tx2"/>
                </a:solidFill>
              </a:rPr>
              <a:t>Model uncertainty</a:t>
            </a:r>
            <a:endParaRPr lang="en-US" sz="1600" dirty="0"/>
          </a:p>
        </p:txBody>
      </p:sp>
      <p:sp>
        <p:nvSpPr>
          <p:cNvPr id="7" name="Model uncertainty text"/>
          <p:cNvSpPr txBox="1"/>
          <p:nvPr/>
        </p:nvSpPr>
        <p:spPr>
          <a:xfrm>
            <a:off x="713232" y="2487168"/>
            <a:ext cx="2286000" cy="914400"/>
          </a:xfrm>
          <a:prstGeom prst="rect">
            <a:avLst/>
          </a:prstGeom>
          <a:noFill/>
          <a:ln/>
        </p:spPr>
        <p:txBody>
          <a:bodyPr wrap="square" lIns="0" tIns="0" rIns="0" bIns="0" rtlCol="0" anchor="t"/>
          <a:lstStyle/>
          <a:p>
            <a:pPr indent="0" marL="0">
              <a:buNone/>
            </a:pPr>
            <a:r>
              <a:rPr lang="en-US" sz="1400" dirty="0">
                <a:solidFill>
                  <a:schemeClr val="tx1"/>
                </a:solidFill>
              </a:rPr>
              <a:t>Data are samples, and every pattern carries chance variation</a:t>
            </a:r>
            <a:endParaRPr lang="en-US" sz="1400" dirty="0"/>
          </a:p>
        </p:txBody>
      </p:sp>
      <p:sp>
        <p:nvSpPr>
          <p:cNvPr id="8" name="Estimate parameters card"/>
          <p:cNvSpPr/>
          <p:nvPr/>
        </p:nvSpPr>
        <p:spPr>
          <a:xfrm>
            <a:off x="3291840" y="1463040"/>
            <a:ext cx="2560320" cy="2011680"/>
          </a:xfrm>
          <a:prstGeom prst="roundRect">
            <a:avLst>
              <a:gd name="adj" fmla="val 3636"/>
            </a:avLst>
          </a:prstGeom>
          <a:solidFill>
            <a:schemeClr val="bg2"/>
          </a:solidFill>
          <a:ln w="12700">
            <a:solidFill>
              <a:schemeClr val="bg2"/>
            </a:solidFill>
            <a:prstDash val="solid"/>
          </a:ln>
        </p:spPr>
      </p:sp>
      <p:sp>
        <p:nvSpPr>
          <p:cNvPr id="9" name="Estimate parameters circle"/>
          <p:cNvSpPr/>
          <p:nvPr/>
        </p:nvSpPr>
        <p:spPr>
          <a:xfrm>
            <a:off x="3456432" y="1627632"/>
            <a:ext cx="475488" cy="475488"/>
          </a:xfrm>
          <a:prstGeom prst="ellipse">
            <a:avLst/>
          </a:prstGeom>
          <a:solidFill>
            <a:schemeClr val="accent2"/>
          </a:solidFill>
          <a:ln w="12700">
            <a:solidFill>
              <a:schemeClr val="accent2"/>
            </a:solidFill>
            <a:prstDash val="solid"/>
          </a:ln>
        </p:spPr>
      </p:sp>
      <p:pic>
        <p:nvPicPr>
          <p:cNvPr id="10" name="Estimate parameters icon" descr="Estimate parameters icon">    </p:cNvPr>
          <p:cNvPicPr>
            <a:picLocks noChangeAspect="1"/>
          </p:cNvPicPr>
          <p:nvPr/>
        </p:nvPicPr>
        <p:blipFill>
          <a:blip r:embed="rId2"/>
          <a:stretch>
            <a:fillRect/>
          </a:stretch>
        </p:blipFill>
        <p:spPr>
          <a:xfrm>
            <a:off x="3570549" y="1741749"/>
            <a:ext cx="247254" cy="247254"/>
          </a:xfrm>
          <a:prstGeom prst="rect">
            <a:avLst/>
          </a:prstGeom>
        </p:spPr>
      </p:pic>
      <p:sp>
        <p:nvSpPr>
          <p:cNvPr id="11" name="Estimate parameters title"/>
          <p:cNvSpPr txBox="1"/>
          <p:nvPr/>
        </p:nvSpPr>
        <p:spPr>
          <a:xfrm>
            <a:off x="3456432" y="2176272"/>
            <a:ext cx="2286000" cy="310896"/>
          </a:xfrm>
          <a:prstGeom prst="rect">
            <a:avLst/>
          </a:prstGeom>
          <a:noFill/>
          <a:ln/>
        </p:spPr>
        <p:txBody>
          <a:bodyPr wrap="square" lIns="0" tIns="0" rIns="0" bIns="0" rtlCol="0" anchor="ctr"/>
          <a:lstStyle/>
          <a:p>
            <a:pPr indent="0" marL="0">
              <a:buNone/>
            </a:pPr>
            <a:r>
              <a:rPr lang="en-US" sz="1600" b="1" dirty="0">
                <a:solidFill>
                  <a:schemeClr val="tx2"/>
                </a:solidFill>
              </a:rPr>
              <a:t>Estimate parameters</a:t>
            </a:r>
            <a:endParaRPr lang="en-US" sz="1600" dirty="0"/>
          </a:p>
        </p:txBody>
      </p:sp>
      <p:sp>
        <p:nvSpPr>
          <p:cNvPr id="12" name="Estimate parameters text"/>
          <p:cNvSpPr txBox="1"/>
          <p:nvPr/>
        </p:nvSpPr>
        <p:spPr>
          <a:xfrm>
            <a:off x="3456432" y="2487168"/>
            <a:ext cx="2286000" cy="914400"/>
          </a:xfrm>
          <a:prstGeom prst="rect">
            <a:avLst/>
          </a:prstGeom>
          <a:noFill/>
          <a:ln/>
        </p:spPr>
        <p:txBody>
          <a:bodyPr wrap="square" lIns="0" tIns="0" rIns="0" bIns="0" rtlCol="0" anchor="t"/>
          <a:lstStyle/>
          <a:p>
            <a:pPr indent="0" marL="0">
              <a:buNone/>
            </a:pPr>
            <a:r>
              <a:rPr lang="en-US" sz="1400" dirty="0">
                <a:solidFill>
                  <a:schemeClr val="tx1"/>
                </a:solidFill>
              </a:rPr>
              <a:t>Fit models by likelihood or by posterior distributions</a:t>
            </a:r>
            <a:endParaRPr lang="en-US" sz="1400" dirty="0"/>
          </a:p>
        </p:txBody>
      </p:sp>
      <p:sp>
        <p:nvSpPr>
          <p:cNvPr id="13" name="Separate signal from noise card"/>
          <p:cNvSpPr/>
          <p:nvPr/>
        </p:nvSpPr>
        <p:spPr>
          <a:xfrm>
            <a:off x="6035040" y="1463040"/>
            <a:ext cx="2560320" cy="2011680"/>
          </a:xfrm>
          <a:prstGeom prst="roundRect">
            <a:avLst>
              <a:gd name="adj" fmla="val 3636"/>
            </a:avLst>
          </a:prstGeom>
          <a:solidFill>
            <a:schemeClr val="bg2"/>
          </a:solidFill>
          <a:ln w="12700">
            <a:solidFill>
              <a:schemeClr val="bg2"/>
            </a:solidFill>
            <a:prstDash val="solid"/>
          </a:ln>
        </p:spPr>
      </p:sp>
      <p:sp>
        <p:nvSpPr>
          <p:cNvPr id="14" name="Separate signal from noise circle"/>
          <p:cNvSpPr/>
          <p:nvPr/>
        </p:nvSpPr>
        <p:spPr>
          <a:xfrm>
            <a:off x="6199632" y="1627632"/>
            <a:ext cx="475488" cy="475488"/>
          </a:xfrm>
          <a:prstGeom prst="ellipse">
            <a:avLst/>
          </a:prstGeom>
          <a:solidFill>
            <a:schemeClr val="accent3"/>
          </a:solidFill>
          <a:ln w="12700">
            <a:solidFill>
              <a:schemeClr val="accent3"/>
            </a:solidFill>
            <a:prstDash val="solid"/>
          </a:ln>
        </p:spPr>
      </p:sp>
      <p:pic>
        <p:nvPicPr>
          <p:cNvPr id="15" name="Separate signal from noise icon" descr="Separate signal from noise icon">    </p:cNvPr>
          <p:cNvPicPr>
            <a:picLocks noChangeAspect="1"/>
          </p:cNvPicPr>
          <p:nvPr/>
        </p:nvPicPr>
        <p:blipFill>
          <a:blip r:embed="rId3"/>
          <a:stretch>
            <a:fillRect/>
          </a:stretch>
        </p:blipFill>
        <p:spPr>
          <a:xfrm>
            <a:off x="6313749" y="1741749"/>
            <a:ext cx="247254" cy="247254"/>
          </a:xfrm>
          <a:prstGeom prst="rect">
            <a:avLst/>
          </a:prstGeom>
        </p:spPr>
      </p:pic>
      <p:sp>
        <p:nvSpPr>
          <p:cNvPr id="16" name="Separate signal from noise title"/>
          <p:cNvSpPr txBox="1"/>
          <p:nvPr/>
        </p:nvSpPr>
        <p:spPr>
          <a:xfrm>
            <a:off x="6199632" y="2176272"/>
            <a:ext cx="2286000" cy="310896"/>
          </a:xfrm>
          <a:prstGeom prst="rect">
            <a:avLst/>
          </a:prstGeom>
          <a:noFill/>
          <a:ln/>
        </p:spPr>
        <p:txBody>
          <a:bodyPr wrap="square" lIns="0" tIns="0" rIns="0" bIns="0" rtlCol="0" anchor="ctr"/>
          <a:lstStyle/>
          <a:p>
            <a:pPr indent="0" marL="0">
              <a:buNone/>
            </a:pPr>
            <a:r>
              <a:rPr lang="en-US" sz="1600" b="1" dirty="0">
                <a:solidFill>
                  <a:schemeClr val="tx2"/>
                </a:solidFill>
              </a:rPr>
              <a:t>Separate signal from noise</a:t>
            </a:r>
            <a:endParaRPr lang="en-US" sz="1600" dirty="0"/>
          </a:p>
        </p:txBody>
      </p:sp>
      <p:sp>
        <p:nvSpPr>
          <p:cNvPr id="17" name="Separate signal from noise text"/>
          <p:cNvSpPr txBox="1"/>
          <p:nvPr/>
        </p:nvSpPr>
        <p:spPr>
          <a:xfrm>
            <a:off x="6199632" y="2487168"/>
            <a:ext cx="2286000" cy="914400"/>
          </a:xfrm>
          <a:prstGeom prst="rect">
            <a:avLst/>
          </a:prstGeom>
          <a:noFill/>
          <a:ln/>
        </p:spPr>
        <p:txBody>
          <a:bodyPr wrap="square" lIns="0" tIns="0" rIns="0" bIns="0" rtlCol="0" anchor="t"/>
          <a:lstStyle/>
          <a:p>
            <a:pPr indent="0" marL="0">
              <a:buNone/>
            </a:pPr>
            <a:r>
              <a:rPr lang="en-US" sz="1400" dirty="0">
                <a:solidFill>
                  <a:schemeClr val="tx1"/>
                </a:solidFill>
              </a:rPr>
              <a:t>Decide whether a pattern is real or an accident</a:t>
            </a:r>
            <a:endParaRPr lang="en-US" sz="1400" dirty="0"/>
          </a:p>
        </p:txBody>
      </p:sp>
      <p:sp>
        <p:nvSpPr>
          <p:cNvPr id="18" name="Takeaway panel"/>
          <p:cNvSpPr/>
          <p:nvPr/>
        </p:nvSpPr>
        <p:spPr>
          <a:xfrm>
            <a:off x="548640" y="3703320"/>
            <a:ext cx="8046720" cy="868680"/>
          </a:xfrm>
          <a:prstGeom prst="roundRect">
            <a:avLst>
              <a:gd name="adj" fmla="val 8421"/>
            </a:avLst>
          </a:prstGeom>
          <a:solidFill>
            <a:schemeClr val="tx2"/>
          </a:solidFill>
          <a:ln w="12700">
            <a:solidFill>
              <a:schemeClr val="tx2"/>
            </a:solidFill>
            <a:prstDash val="solid"/>
          </a:ln>
        </p:spPr>
      </p:sp>
      <p:sp>
        <p:nvSpPr>
          <p:cNvPr id="19" name="Takeaway text"/>
          <p:cNvSpPr txBox="1"/>
          <p:nvPr/>
        </p:nvSpPr>
        <p:spPr>
          <a:xfrm>
            <a:off x="777240" y="3703320"/>
            <a:ext cx="7589520" cy="868680"/>
          </a:xfrm>
          <a:prstGeom prst="rect">
            <a:avLst/>
          </a:prstGeom>
          <a:noFill/>
          <a:ln/>
        </p:spPr>
        <p:txBody>
          <a:bodyPr wrap="square" lIns="0" tIns="0" rIns="0" bIns="0" rtlCol="0" anchor="ctr"/>
          <a:lstStyle/>
          <a:p>
            <a:pPr indent="0" marL="0">
              <a:buNone/>
            </a:pPr>
            <a:r>
              <a:rPr lang="en-US" sz="1800" b="1" dirty="0">
                <a:solidFill>
                  <a:schemeClr val="accent1"/>
                </a:solidFill>
              </a:rPr>
              <a:t>Every data mining method is a probability model, an estimator of one, or a check on one.</a:t>
            </a:r>
            <a:endParaRPr lang="en-US" sz="18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914400"/>
          </a:xfrm>
          <a:prstGeom prst="rect">
            <a:avLst/>
          </a:prstGeom>
          <a:noFill/>
          <a:ln/>
        </p:spPr>
        <p:txBody>
          <a:bodyPr wrap="square" lIns="0" tIns="0" rIns="0" bIns="0" rtlCol="0" anchor="ctr"/>
          <a:lstStyle/>
          <a:p>
            <a:pPr algn="l" indent="0" marL="0">
              <a:buNone/>
            </a:pPr>
            <a:r>
              <a:rPr lang="en-US" sz="3200" b="1" dirty="0">
                <a:solidFill>
                  <a:schemeClr val="tx2"/>
                </a:solidFill>
              </a:rPr>
              <a:t>Core building blocks</a:t>
            </a:r>
            <a:endParaRPr lang="en-US" sz="3200" dirty="0"/>
          </a:p>
        </p:txBody>
      </p:sp>
      <p:sp>
        <p:nvSpPr>
          <p:cNvPr id="3" name="Events card"/>
          <p:cNvSpPr/>
          <p:nvPr/>
        </p:nvSpPr>
        <p:spPr>
          <a:xfrm>
            <a:off x="548640" y="1371600"/>
            <a:ext cx="2560320" cy="1554480"/>
          </a:xfrm>
          <a:prstGeom prst="roundRect">
            <a:avLst>
              <a:gd name="adj" fmla="val 4706"/>
            </a:avLst>
          </a:prstGeom>
          <a:solidFill>
            <a:schemeClr val="bg2"/>
          </a:solidFill>
          <a:ln w="12700">
            <a:solidFill>
              <a:schemeClr val="bg2"/>
            </a:solidFill>
            <a:prstDash val="solid"/>
          </a:ln>
        </p:spPr>
      </p:sp>
      <p:sp>
        <p:nvSpPr>
          <p:cNvPr id="4" name="Events circle"/>
          <p:cNvSpPr/>
          <p:nvPr/>
        </p:nvSpPr>
        <p:spPr>
          <a:xfrm>
            <a:off x="713232" y="1536192"/>
            <a:ext cx="475488" cy="475488"/>
          </a:xfrm>
          <a:prstGeom prst="ellipse">
            <a:avLst/>
          </a:prstGeom>
          <a:solidFill>
            <a:schemeClr val="accent1"/>
          </a:solidFill>
          <a:ln w="12700">
            <a:solidFill>
              <a:schemeClr val="accent1"/>
            </a:solidFill>
            <a:prstDash val="solid"/>
          </a:ln>
        </p:spPr>
      </p:sp>
      <p:pic>
        <p:nvPicPr>
          <p:cNvPr id="5" name="Events icon" descr="Events icon">    </p:cNvPr>
          <p:cNvPicPr>
            <a:picLocks noChangeAspect="1"/>
          </p:cNvPicPr>
          <p:nvPr/>
        </p:nvPicPr>
        <p:blipFill>
          <a:blip r:embed="rId1"/>
          <a:stretch>
            <a:fillRect/>
          </a:stretch>
        </p:blipFill>
        <p:spPr>
          <a:xfrm>
            <a:off x="827349" y="1650309"/>
            <a:ext cx="247254" cy="247254"/>
          </a:xfrm>
          <a:prstGeom prst="rect">
            <a:avLst/>
          </a:prstGeom>
        </p:spPr>
      </p:pic>
      <p:sp>
        <p:nvSpPr>
          <p:cNvPr id="6" name="Events title"/>
          <p:cNvSpPr txBox="1"/>
          <p:nvPr/>
        </p:nvSpPr>
        <p:spPr>
          <a:xfrm>
            <a:off x="713232" y="2084832"/>
            <a:ext cx="2286000" cy="310896"/>
          </a:xfrm>
          <a:prstGeom prst="rect">
            <a:avLst/>
          </a:prstGeom>
          <a:noFill/>
          <a:ln/>
        </p:spPr>
        <p:txBody>
          <a:bodyPr wrap="square" lIns="0" tIns="0" rIns="0" bIns="0" rtlCol="0" anchor="ctr"/>
          <a:lstStyle/>
          <a:p>
            <a:pPr indent="0" marL="0">
              <a:buNone/>
            </a:pPr>
            <a:r>
              <a:rPr lang="en-US" sz="1600" b="1" dirty="0">
                <a:solidFill>
                  <a:schemeClr val="tx2"/>
                </a:solidFill>
              </a:rPr>
              <a:t>Events</a:t>
            </a:r>
            <a:endParaRPr lang="en-US" sz="1600" dirty="0"/>
          </a:p>
        </p:txBody>
      </p:sp>
      <p:sp>
        <p:nvSpPr>
          <p:cNvPr id="7" name="Events text"/>
          <p:cNvSpPr txBox="1"/>
          <p:nvPr/>
        </p:nvSpPr>
        <p:spPr>
          <a:xfrm>
            <a:off x="713232" y="2395728"/>
            <a:ext cx="2286000" cy="457200"/>
          </a:xfrm>
          <a:prstGeom prst="rect">
            <a:avLst/>
          </a:prstGeom>
          <a:noFill/>
          <a:ln/>
        </p:spPr>
        <p:txBody>
          <a:bodyPr wrap="square" lIns="0" tIns="0" rIns="0" bIns="0" rtlCol="0" anchor="t"/>
          <a:lstStyle/>
          <a:p>
            <a:pPr indent="0" marL="0">
              <a:buNone/>
            </a:pPr>
            <a:r>
              <a:rPr lang="en-US" sz="1400" dirty="0">
                <a:solidFill>
                  <a:schemeClr val="tx1"/>
                </a:solidFill>
              </a:rPr>
              <a:t>Sample space, events and the axioms</a:t>
            </a:r>
            <a:endParaRPr lang="en-US" sz="1400" dirty="0"/>
          </a:p>
        </p:txBody>
      </p:sp>
      <p:sp>
        <p:nvSpPr>
          <p:cNvPr id="8" name="Conditional card"/>
          <p:cNvSpPr/>
          <p:nvPr/>
        </p:nvSpPr>
        <p:spPr>
          <a:xfrm>
            <a:off x="3291840" y="1371600"/>
            <a:ext cx="2560320" cy="1554480"/>
          </a:xfrm>
          <a:prstGeom prst="roundRect">
            <a:avLst>
              <a:gd name="adj" fmla="val 4706"/>
            </a:avLst>
          </a:prstGeom>
          <a:solidFill>
            <a:schemeClr val="bg2"/>
          </a:solidFill>
          <a:ln w="12700">
            <a:solidFill>
              <a:schemeClr val="bg2"/>
            </a:solidFill>
            <a:prstDash val="solid"/>
          </a:ln>
        </p:spPr>
      </p:sp>
      <p:sp>
        <p:nvSpPr>
          <p:cNvPr id="9" name="Conditional circle"/>
          <p:cNvSpPr/>
          <p:nvPr/>
        </p:nvSpPr>
        <p:spPr>
          <a:xfrm>
            <a:off x="3456432" y="1536192"/>
            <a:ext cx="475488" cy="475488"/>
          </a:xfrm>
          <a:prstGeom prst="ellipse">
            <a:avLst/>
          </a:prstGeom>
          <a:solidFill>
            <a:schemeClr val="accent2"/>
          </a:solidFill>
          <a:ln w="12700">
            <a:solidFill>
              <a:schemeClr val="accent2"/>
            </a:solidFill>
            <a:prstDash val="solid"/>
          </a:ln>
        </p:spPr>
      </p:sp>
      <p:pic>
        <p:nvPicPr>
          <p:cNvPr id="10" name="Conditional icon" descr="Conditional icon">    </p:cNvPr>
          <p:cNvPicPr>
            <a:picLocks noChangeAspect="1"/>
          </p:cNvPicPr>
          <p:nvPr/>
        </p:nvPicPr>
        <p:blipFill>
          <a:blip r:embed="rId2"/>
          <a:stretch>
            <a:fillRect/>
          </a:stretch>
        </p:blipFill>
        <p:spPr>
          <a:xfrm>
            <a:off x="3570549" y="1650309"/>
            <a:ext cx="247254" cy="247254"/>
          </a:xfrm>
          <a:prstGeom prst="rect">
            <a:avLst/>
          </a:prstGeom>
        </p:spPr>
      </p:pic>
      <p:sp>
        <p:nvSpPr>
          <p:cNvPr id="11" name="Conditional title"/>
          <p:cNvSpPr txBox="1"/>
          <p:nvPr/>
        </p:nvSpPr>
        <p:spPr>
          <a:xfrm>
            <a:off x="3456432" y="2084832"/>
            <a:ext cx="2286000" cy="310896"/>
          </a:xfrm>
          <a:prstGeom prst="rect">
            <a:avLst/>
          </a:prstGeom>
          <a:noFill/>
          <a:ln/>
        </p:spPr>
        <p:txBody>
          <a:bodyPr wrap="square" lIns="0" tIns="0" rIns="0" bIns="0" rtlCol="0" anchor="ctr"/>
          <a:lstStyle/>
          <a:p>
            <a:pPr indent="0" marL="0">
              <a:buNone/>
            </a:pPr>
            <a:r>
              <a:rPr lang="en-US" sz="1600" b="1" dirty="0">
                <a:solidFill>
                  <a:schemeClr val="tx2"/>
                </a:solidFill>
              </a:rPr>
              <a:t>Conditional</a:t>
            </a:r>
            <a:endParaRPr lang="en-US" sz="1600" dirty="0"/>
          </a:p>
        </p:txBody>
      </p:sp>
      <p:sp>
        <p:nvSpPr>
          <p:cNvPr id="12" name="Conditional text"/>
          <p:cNvSpPr txBox="1"/>
          <p:nvPr/>
        </p:nvSpPr>
        <p:spPr>
          <a:xfrm>
            <a:off x="3456432" y="2395728"/>
            <a:ext cx="2286000" cy="457200"/>
          </a:xfrm>
          <a:prstGeom prst="rect">
            <a:avLst/>
          </a:prstGeom>
          <a:noFill/>
          <a:ln/>
        </p:spPr>
        <p:txBody>
          <a:bodyPr wrap="square" lIns="0" tIns="0" rIns="0" bIns="0" rtlCol="0" anchor="t"/>
          <a:lstStyle/>
          <a:p>
            <a:pPr indent="0" marL="0">
              <a:buNone/>
            </a:pPr>
            <a:r>
              <a:rPr lang="en-US" sz="1400" dirty="0">
                <a:solidFill>
                  <a:schemeClr val="tx1"/>
                </a:solidFill>
              </a:rPr>
              <a:t>P(A|B) and independence</a:t>
            </a:r>
            <a:endParaRPr lang="en-US" sz="1400" dirty="0"/>
          </a:p>
        </p:txBody>
      </p:sp>
      <p:sp>
        <p:nvSpPr>
          <p:cNvPr id="13" name="Bayes card"/>
          <p:cNvSpPr/>
          <p:nvPr/>
        </p:nvSpPr>
        <p:spPr>
          <a:xfrm>
            <a:off x="6035040" y="1371600"/>
            <a:ext cx="2560320" cy="1554480"/>
          </a:xfrm>
          <a:prstGeom prst="roundRect">
            <a:avLst>
              <a:gd name="adj" fmla="val 4706"/>
            </a:avLst>
          </a:prstGeom>
          <a:solidFill>
            <a:schemeClr val="bg2"/>
          </a:solidFill>
          <a:ln w="12700">
            <a:solidFill>
              <a:schemeClr val="bg2"/>
            </a:solidFill>
            <a:prstDash val="solid"/>
          </a:ln>
        </p:spPr>
      </p:sp>
      <p:sp>
        <p:nvSpPr>
          <p:cNvPr id="14" name="Bayes circle"/>
          <p:cNvSpPr/>
          <p:nvPr/>
        </p:nvSpPr>
        <p:spPr>
          <a:xfrm>
            <a:off x="6199632" y="1536192"/>
            <a:ext cx="475488" cy="475488"/>
          </a:xfrm>
          <a:prstGeom prst="ellipse">
            <a:avLst/>
          </a:prstGeom>
          <a:solidFill>
            <a:schemeClr val="accent3"/>
          </a:solidFill>
          <a:ln w="12700">
            <a:solidFill>
              <a:schemeClr val="accent3"/>
            </a:solidFill>
            <a:prstDash val="solid"/>
          </a:ln>
        </p:spPr>
      </p:sp>
      <p:pic>
        <p:nvPicPr>
          <p:cNvPr id="15" name="Bayes icon" descr="Bayes icon">    </p:cNvPr>
          <p:cNvPicPr>
            <a:picLocks noChangeAspect="1"/>
          </p:cNvPicPr>
          <p:nvPr/>
        </p:nvPicPr>
        <p:blipFill>
          <a:blip r:embed="rId3"/>
          <a:stretch>
            <a:fillRect/>
          </a:stretch>
        </p:blipFill>
        <p:spPr>
          <a:xfrm>
            <a:off x="6313749" y="1650309"/>
            <a:ext cx="247254" cy="247254"/>
          </a:xfrm>
          <a:prstGeom prst="rect">
            <a:avLst/>
          </a:prstGeom>
        </p:spPr>
      </p:pic>
      <p:sp>
        <p:nvSpPr>
          <p:cNvPr id="16" name="Bayes title"/>
          <p:cNvSpPr txBox="1"/>
          <p:nvPr/>
        </p:nvSpPr>
        <p:spPr>
          <a:xfrm>
            <a:off x="6199632" y="2084832"/>
            <a:ext cx="2286000" cy="310896"/>
          </a:xfrm>
          <a:prstGeom prst="rect">
            <a:avLst/>
          </a:prstGeom>
          <a:noFill/>
          <a:ln/>
        </p:spPr>
        <p:txBody>
          <a:bodyPr wrap="square" lIns="0" tIns="0" rIns="0" bIns="0" rtlCol="0" anchor="ctr"/>
          <a:lstStyle/>
          <a:p>
            <a:pPr indent="0" marL="0">
              <a:buNone/>
            </a:pPr>
            <a:r>
              <a:rPr lang="en-US" sz="1600" b="1" dirty="0">
                <a:solidFill>
                  <a:schemeClr val="tx2"/>
                </a:solidFill>
              </a:rPr>
              <a:t>Bayes</a:t>
            </a:r>
            <a:endParaRPr lang="en-US" sz="1600" dirty="0"/>
          </a:p>
        </p:txBody>
      </p:sp>
      <p:sp>
        <p:nvSpPr>
          <p:cNvPr id="17" name="Bayes text"/>
          <p:cNvSpPr txBox="1"/>
          <p:nvPr/>
        </p:nvSpPr>
        <p:spPr>
          <a:xfrm>
            <a:off x="6199632" y="2395728"/>
            <a:ext cx="2286000" cy="457200"/>
          </a:xfrm>
          <a:prstGeom prst="rect">
            <a:avLst/>
          </a:prstGeom>
          <a:noFill/>
          <a:ln/>
        </p:spPr>
        <p:txBody>
          <a:bodyPr wrap="square" lIns="0" tIns="0" rIns="0" bIns="0" rtlCol="0" anchor="t"/>
          <a:lstStyle/>
          <a:p>
            <a:pPr indent="0" marL="0">
              <a:buNone/>
            </a:pPr>
            <a:r>
              <a:rPr lang="en-US" sz="1400" dirty="0">
                <a:solidFill>
                  <a:schemeClr val="tx1"/>
                </a:solidFill>
              </a:rPr>
              <a:t>Posterior from prior and likelihood</a:t>
            </a:r>
            <a:endParaRPr lang="en-US" sz="1400" dirty="0"/>
          </a:p>
        </p:txBody>
      </p:sp>
      <p:sp>
        <p:nvSpPr>
          <p:cNvPr id="18" name="Distributions card"/>
          <p:cNvSpPr/>
          <p:nvPr/>
        </p:nvSpPr>
        <p:spPr>
          <a:xfrm>
            <a:off x="548640" y="3063240"/>
            <a:ext cx="2560320" cy="1554480"/>
          </a:xfrm>
          <a:prstGeom prst="roundRect">
            <a:avLst>
              <a:gd name="adj" fmla="val 4706"/>
            </a:avLst>
          </a:prstGeom>
          <a:solidFill>
            <a:schemeClr val="bg2"/>
          </a:solidFill>
          <a:ln w="12700">
            <a:solidFill>
              <a:schemeClr val="bg2"/>
            </a:solidFill>
            <a:prstDash val="solid"/>
          </a:ln>
        </p:spPr>
      </p:sp>
      <p:sp>
        <p:nvSpPr>
          <p:cNvPr id="19" name="Distributions circle"/>
          <p:cNvSpPr/>
          <p:nvPr/>
        </p:nvSpPr>
        <p:spPr>
          <a:xfrm>
            <a:off x="713232" y="3227832"/>
            <a:ext cx="475488" cy="475488"/>
          </a:xfrm>
          <a:prstGeom prst="ellipse">
            <a:avLst/>
          </a:prstGeom>
          <a:solidFill>
            <a:schemeClr val="accent4"/>
          </a:solidFill>
          <a:ln w="12700">
            <a:solidFill>
              <a:schemeClr val="accent4"/>
            </a:solidFill>
            <a:prstDash val="solid"/>
          </a:ln>
        </p:spPr>
      </p:sp>
      <p:pic>
        <p:nvPicPr>
          <p:cNvPr id="20" name="Distributions icon" descr="Distributions icon">    </p:cNvPr>
          <p:cNvPicPr>
            <a:picLocks noChangeAspect="1"/>
          </p:cNvPicPr>
          <p:nvPr/>
        </p:nvPicPr>
        <p:blipFill>
          <a:blip r:embed="rId4"/>
          <a:stretch>
            <a:fillRect/>
          </a:stretch>
        </p:blipFill>
        <p:spPr>
          <a:xfrm>
            <a:off x="827349" y="3341949"/>
            <a:ext cx="247254" cy="247254"/>
          </a:xfrm>
          <a:prstGeom prst="rect">
            <a:avLst/>
          </a:prstGeom>
        </p:spPr>
      </p:pic>
      <p:sp>
        <p:nvSpPr>
          <p:cNvPr id="21" name="Distributions title"/>
          <p:cNvSpPr txBox="1"/>
          <p:nvPr/>
        </p:nvSpPr>
        <p:spPr>
          <a:xfrm>
            <a:off x="713232" y="3776472"/>
            <a:ext cx="2286000" cy="310896"/>
          </a:xfrm>
          <a:prstGeom prst="rect">
            <a:avLst/>
          </a:prstGeom>
          <a:noFill/>
          <a:ln/>
        </p:spPr>
        <p:txBody>
          <a:bodyPr wrap="square" lIns="0" tIns="0" rIns="0" bIns="0" rtlCol="0" anchor="ctr"/>
          <a:lstStyle/>
          <a:p>
            <a:pPr indent="0" marL="0">
              <a:buNone/>
            </a:pPr>
            <a:r>
              <a:rPr lang="en-US" sz="1600" b="1" dirty="0">
                <a:solidFill>
                  <a:schemeClr val="tx2"/>
                </a:solidFill>
              </a:rPr>
              <a:t>Distributions</a:t>
            </a:r>
            <a:endParaRPr lang="en-US" sz="1600" dirty="0"/>
          </a:p>
        </p:txBody>
      </p:sp>
      <p:sp>
        <p:nvSpPr>
          <p:cNvPr id="22" name="Distributions text"/>
          <p:cNvSpPr txBox="1"/>
          <p:nvPr/>
        </p:nvSpPr>
        <p:spPr>
          <a:xfrm>
            <a:off x="713232" y="4087368"/>
            <a:ext cx="2286000" cy="457200"/>
          </a:xfrm>
          <a:prstGeom prst="rect">
            <a:avLst/>
          </a:prstGeom>
          <a:noFill/>
          <a:ln/>
        </p:spPr>
        <p:txBody>
          <a:bodyPr wrap="square" lIns="0" tIns="0" rIns="0" bIns="0" rtlCol="0" anchor="t"/>
          <a:lstStyle/>
          <a:p>
            <a:pPr indent="0" marL="0">
              <a:buNone/>
            </a:pPr>
            <a:r>
              <a:rPr lang="en-US" sz="1400" dirty="0">
                <a:solidFill>
                  <a:schemeClr val="tx1"/>
                </a:solidFill>
              </a:rPr>
              <a:t>Random variables and their laws</a:t>
            </a:r>
            <a:endParaRPr lang="en-US" sz="1400" dirty="0"/>
          </a:p>
        </p:txBody>
      </p:sp>
      <p:sp>
        <p:nvSpPr>
          <p:cNvPr id="23" name="Moments card"/>
          <p:cNvSpPr/>
          <p:nvPr/>
        </p:nvSpPr>
        <p:spPr>
          <a:xfrm>
            <a:off x="3291840" y="3063240"/>
            <a:ext cx="2560320" cy="1554480"/>
          </a:xfrm>
          <a:prstGeom prst="roundRect">
            <a:avLst>
              <a:gd name="adj" fmla="val 4706"/>
            </a:avLst>
          </a:prstGeom>
          <a:solidFill>
            <a:schemeClr val="bg2"/>
          </a:solidFill>
          <a:ln w="12700">
            <a:solidFill>
              <a:schemeClr val="bg2"/>
            </a:solidFill>
            <a:prstDash val="solid"/>
          </a:ln>
        </p:spPr>
      </p:sp>
      <p:sp>
        <p:nvSpPr>
          <p:cNvPr id="24" name="Moments circle"/>
          <p:cNvSpPr/>
          <p:nvPr/>
        </p:nvSpPr>
        <p:spPr>
          <a:xfrm>
            <a:off x="3456432" y="3227832"/>
            <a:ext cx="475488" cy="475488"/>
          </a:xfrm>
          <a:prstGeom prst="ellipse">
            <a:avLst/>
          </a:prstGeom>
          <a:solidFill>
            <a:schemeClr val="accent6"/>
          </a:solidFill>
          <a:ln w="12700">
            <a:solidFill>
              <a:schemeClr val="accent6"/>
            </a:solidFill>
            <a:prstDash val="solid"/>
          </a:ln>
        </p:spPr>
      </p:sp>
      <p:pic>
        <p:nvPicPr>
          <p:cNvPr id="25" name="Moments icon" descr="Moments icon">    </p:cNvPr>
          <p:cNvPicPr>
            <a:picLocks noChangeAspect="1"/>
          </p:cNvPicPr>
          <p:nvPr/>
        </p:nvPicPr>
        <p:blipFill>
          <a:blip r:embed="rId5"/>
          <a:stretch>
            <a:fillRect/>
          </a:stretch>
        </p:blipFill>
        <p:spPr>
          <a:xfrm>
            <a:off x="3570549" y="3341949"/>
            <a:ext cx="247254" cy="247254"/>
          </a:xfrm>
          <a:prstGeom prst="rect">
            <a:avLst/>
          </a:prstGeom>
        </p:spPr>
      </p:pic>
      <p:sp>
        <p:nvSpPr>
          <p:cNvPr id="26" name="Moments title"/>
          <p:cNvSpPr txBox="1"/>
          <p:nvPr/>
        </p:nvSpPr>
        <p:spPr>
          <a:xfrm>
            <a:off x="3456432" y="3776472"/>
            <a:ext cx="2286000" cy="310896"/>
          </a:xfrm>
          <a:prstGeom prst="rect">
            <a:avLst/>
          </a:prstGeom>
          <a:noFill/>
          <a:ln/>
        </p:spPr>
        <p:txBody>
          <a:bodyPr wrap="square" lIns="0" tIns="0" rIns="0" bIns="0" rtlCol="0" anchor="ctr"/>
          <a:lstStyle/>
          <a:p>
            <a:pPr indent="0" marL="0">
              <a:buNone/>
            </a:pPr>
            <a:r>
              <a:rPr lang="en-US" sz="1600" b="1" dirty="0">
                <a:solidFill>
                  <a:schemeClr val="tx2"/>
                </a:solidFill>
              </a:rPr>
              <a:t>Moments</a:t>
            </a:r>
            <a:endParaRPr lang="en-US" sz="1600" dirty="0"/>
          </a:p>
        </p:txBody>
      </p:sp>
      <p:sp>
        <p:nvSpPr>
          <p:cNvPr id="27" name="Moments text"/>
          <p:cNvSpPr txBox="1"/>
          <p:nvPr/>
        </p:nvSpPr>
        <p:spPr>
          <a:xfrm>
            <a:off x="3456432" y="4087368"/>
            <a:ext cx="2286000" cy="457200"/>
          </a:xfrm>
          <a:prstGeom prst="rect">
            <a:avLst/>
          </a:prstGeom>
          <a:noFill/>
          <a:ln/>
        </p:spPr>
        <p:txBody>
          <a:bodyPr wrap="square" lIns="0" tIns="0" rIns="0" bIns="0" rtlCol="0" anchor="t"/>
          <a:lstStyle/>
          <a:p>
            <a:pPr indent="0" marL="0">
              <a:buNone/>
            </a:pPr>
            <a:r>
              <a:rPr lang="en-US" sz="1400" dirty="0">
                <a:solidFill>
                  <a:schemeClr val="tx1"/>
                </a:solidFill>
              </a:rPr>
              <a:t>Expectation, variance, covariance</a:t>
            </a:r>
            <a:endParaRPr lang="en-US" sz="1400" dirty="0"/>
          </a:p>
        </p:txBody>
      </p:sp>
      <p:sp>
        <p:nvSpPr>
          <p:cNvPr id="28" name="Limit laws card"/>
          <p:cNvSpPr/>
          <p:nvPr/>
        </p:nvSpPr>
        <p:spPr>
          <a:xfrm>
            <a:off x="6035040" y="3063240"/>
            <a:ext cx="2560320" cy="1554480"/>
          </a:xfrm>
          <a:prstGeom prst="roundRect">
            <a:avLst>
              <a:gd name="adj" fmla="val 4706"/>
            </a:avLst>
          </a:prstGeom>
          <a:solidFill>
            <a:schemeClr val="bg2"/>
          </a:solidFill>
          <a:ln w="12700">
            <a:solidFill>
              <a:schemeClr val="bg2"/>
            </a:solidFill>
            <a:prstDash val="solid"/>
          </a:ln>
        </p:spPr>
      </p:sp>
      <p:sp>
        <p:nvSpPr>
          <p:cNvPr id="29" name="Limit laws circle"/>
          <p:cNvSpPr/>
          <p:nvPr/>
        </p:nvSpPr>
        <p:spPr>
          <a:xfrm>
            <a:off x="6199632" y="3227832"/>
            <a:ext cx="475488" cy="475488"/>
          </a:xfrm>
          <a:prstGeom prst="ellipse">
            <a:avLst/>
          </a:prstGeom>
          <a:solidFill>
            <a:schemeClr val="accent2"/>
          </a:solidFill>
          <a:ln w="12700">
            <a:solidFill>
              <a:schemeClr val="accent2"/>
            </a:solidFill>
            <a:prstDash val="solid"/>
          </a:ln>
        </p:spPr>
      </p:sp>
      <p:pic>
        <p:nvPicPr>
          <p:cNvPr id="30" name="Limit laws icon" descr="Limit laws icon">    </p:cNvPr>
          <p:cNvPicPr>
            <a:picLocks noChangeAspect="1"/>
          </p:cNvPicPr>
          <p:nvPr/>
        </p:nvPicPr>
        <p:blipFill>
          <a:blip r:embed="rId6"/>
          <a:stretch>
            <a:fillRect/>
          </a:stretch>
        </p:blipFill>
        <p:spPr>
          <a:xfrm>
            <a:off x="6313749" y="3341949"/>
            <a:ext cx="247254" cy="247254"/>
          </a:xfrm>
          <a:prstGeom prst="rect">
            <a:avLst/>
          </a:prstGeom>
        </p:spPr>
      </p:pic>
      <p:sp>
        <p:nvSpPr>
          <p:cNvPr id="31" name="Limit laws title"/>
          <p:cNvSpPr txBox="1"/>
          <p:nvPr/>
        </p:nvSpPr>
        <p:spPr>
          <a:xfrm>
            <a:off x="6199632" y="3776472"/>
            <a:ext cx="2286000" cy="310896"/>
          </a:xfrm>
          <a:prstGeom prst="rect">
            <a:avLst/>
          </a:prstGeom>
          <a:noFill/>
          <a:ln/>
        </p:spPr>
        <p:txBody>
          <a:bodyPr wrap="square" lIns="0" tIns="0" rIns="0" bIns="0" rtlCol="0" anchor="ctr"/>
          <a:lstStyle/>
          <a:p>
            <a:pPr indent="0" marL="0">
              <a:buNone/>
            </a:pPr>
            <a:r>
              <a:rPr lang="en-US" sz="1600" b="1" dirty="0">
                <a:solidFill>
                  <a:schemeClr val="tx2"/>
                </a:solidFill>
              </a:rPr>
              <a:t>Limit laws</a:t>
            </a:r>
            <a:endParaRPr lang="en-US" sz="1600" dirty="0"/>
          </a:p>
        </p:txBody>
      </p:sp>
      <p:sp>
        <p:nvSpPr>
          <p:cNvPr id="32" name="Limit laws text"/>
          <p:cNvSpPr txBox="1"/>
          <p:nvPr/>
        </p:nvSpPr>
        <p:spPr>
          <a:xfrm>
            <a:off x="6199632" y="4087368"/>
            <a:ext cx="2286000" cy="457200"/>
          </a:xfrm>
          <a:prstGeom prst="rect">
            <a:avLst/>
          </a:prstGeom>
          <a:noFill/>
          <a:ln/>
        </p:spPr>
        <p:txBody>
          <a:bodyPr wrap="square" lIns="0" tIns="0" rIns="0" bIns="0" rtlCol="0" anchor="t"/>
          <a:lstStyle/>
          <a:p>
            <a:pPr indent="0" marL="0">
              <a:buNone/>
            </a:pPr>
            <a:r>
              <a:rPr lang="en-US" sz="1400" dirty="0">
                <a:solidFill>
                  <a:schemeClr val="tx1"/>
                </a:solidFill>
              </a:rPr>
              <a:t>Law of large numbers and CLT</a:t>
            </a:r>
            <a:endParaRPr lang="en-US" sz="14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914400"/>
          </a:xfrm>
          <a:prstGeom prst="rect">
            <a:avLst/>
          </a:prstGeom>
          <a:noFill/>
          <a:ln/>
        </p:spPr>
        <p:txBody>
          <a:bodyPr wrap="square" lIns="0" tIns="0" rIns="0" bIns="0" rtlCol="0" anchor="ctr"/>
          <a:lstStyle/>
          <a:p>
            <a:pPr algn="l" indent="0" marL="0">
              <a:buNone/>
            </a:pPr>
            <a:r>
              <a:rPr lang="en-US" sz="3200" b="1" dirty="0">
                <a:solidFill>
                  <a:schemeClr val="tx2"/>
                </a:solidFill>
              </a:rPr>
              <a:t>Bayes' theorem</a:t>
            </a:r>
            <a:endParaRPr lang="en-US" sz="3200" dirty="0"/>
          </a:p>
        </p:txBody>
      </p:sp>
      <p:sp>
        <p:nvSpPr>
          <p:cNvPr id="3" name="Formula panel"/>
          <p:cNvSpPr/>
          <p:nvPr/>
        </p:nvSpPr>
        <p:spPr>
          <a:xfrm>
            <a:off x="548640" y="1371600"/>
            <a:ext cx="8046720" cy="1188720"/>
          </a:xfrm>
          <a:prstGeom prst="roundRect">
            <a:avLst>
              <a:gd name="adj" fmla="val 6154"/>
            </a:avLst>
          </a:prstGeom>
          <a:solidFill>
            <a:schemeClr val="tx2"/>
          </a:solidFill>
          <a:ln w="12700">
            <a:solidFill>
              <a:schemeClr val="tx2"/>
            </a:solidFill>
            <a:prstDash val="solid"/>
          </a:ln>
        </p:spPr>
      </p:sp>
      <p:sp>
        <p:nvSpPr>
          <p:cNvPr id="4" name="Bayes formula"/>
          <p:cNvSpPr txBox="1"/>
          <p:nvPr/>
        </p:nvSpPr>
        <p:spPr>
          <a:xfrm>
            <a:off x="548640" y="1371600"/>
            <a:ext cx="8046720" cy="1188720"/>
          </a:xfrm>
          <a:prstGeom prst="rect">
            <a:avLst/>
          </a:prstGeom>
          <a:noFill/>
          <a:ln/>
        </p:spPr>
        <p:txBody>
          <a:bodyPr wrap="square" lIns="0" tIns="0" rIns="0" bIns="0" rtlCol="0" anchor="ctr"/>
          <a:lstStyle/>
          <a:p>
            <a:pPr algn="ctr" indent="0" marL="0">
              <a:buNone/>
            </a:pPr>
            <a:r>
              <a:rPr lang="en-US" sz="3200" b="1" dirty="0">
                <a:solidFill>
                  <a:schemeClr val="bg1"/>
                </a:solidFill>
              </a:rPr>
              <a:t>P(C | x)  =  P(x | C) · P(C)  /  P(x)</a:t>
            </a:r>
            <a:endParaRPr lang="en-US" sz="3200" dirty="0"/>
          </a:p>
        </p:txBody>
      </p:sp>
      <p:sp>
        <p:nvSpPr>
          <p:cNvPr id="5" name="Posterior card"/>
          <p:cNvSpPr/>
          <p:nvPr/>
        </p:nvSpPr>
        <p:spPr>
          <a:xfrm>
            <a:off x="548640" y="2788920"/>
            <a:ext cx="2560320" cy="1737360"/>
          </a:xfrm>
          <a:prstGeom prst="roundRect">
            <a:avLst>
              <a:gd name="adj" fmla="val 4211"/>
            </a:avLst>
          </a:prstGeom>
          <a:solidFill>
            <a:schemeClr val="bg2"/>
          </a:solidFill>
          <a:ln w="12700">
            <a:solidFill>
              <a:schemeClr val="bg2"/>
            </a:solidFill>
            <a:prstDash val="solid"/>
          </a:ln>
        </p:spPr>
      </p:sp>
      <p:sp>
        <p:nvSpPr>
          <p:cNvPr id="6" name="Posterior dot"/>
          <p:cNvSpPr/>
          <p:nvPr/>
        </p:nvSpPr>
        <p:spPr>
          <a:xfrm>
            <a:off x="713232" y="2953512"/>
            <a:ext cx="182880" cy="182880"/>
          </a:xfrm>
          <a:prstGeom prst="ellipse">
            <a:avLst/>
          </a:prstGeom>
          <a:solidFill>
            <a:schemeClr val="accent2"/>
          </a:solidFill>
          <a:ln w="12700">
            <a:solidFill>
              <a:schemeClr val="accent2"/>
            </a:solidFill>
            <a:prstDash val="solid"/>
          </a:ln>
        </p:spPr>
      </p:sp>
      <p:sp>
        <p:nvSpPr>
          <p:cNvPr id="7" name="Posterior title"/>
          <p:cNvSpPr txBox="1"/>
          <p:nvPr/>
        </p:nvSpPr>
        <p:spPr>
          <a:xfrm>
            <a:off x="1005840" y="2880360"/>
            <a:ext cx="2011680" cy="365760"/>
          </a:xfrm>
          <a:prstGeom prst="rect">
            <a:avLst/>
          </a:prstGeom>
          <a:noFill/>
          <a:ln/>
        </p:spPr>
        <p:txBody>
          <a:bodyPr wrap="square" lIns="0" tIns="0" rIns="0" bIns="0" rtlCol="0" anchor="ctr"/>
          <a:lstStyle/>
          <a:p>
            <a:pPr indent="0" marL="0">
              <a:buNone/>
            </a:pPr>
            <a:r>
              <a:rPr lang="en-US" sz="1800" b="1" dirty="0">
                <a:solidFill>
                  <a:schemeClr val="tx2"/>
                </a:solidFill>
              </a:rPr>
              <a:t>Posterior</a:t>
            </a:r>
            <a:endParaRPr lang="en-US" sz="1800" dirty="0"/>
          </a:p>
        </p:txBody>
      </p:sp>
      <p:sp>
        <p:nvSpPr>
          <p:cNvPr id="8" name="Posterior symbol"/>
          <p:cNvSpPr txBox="1"/>
          <p:nvPr/>
        </p:nvSpPr>
        <p:spPr>
          <a:xfrm>
            <a:off x="713232" y="3337560"/>
            <a:ext cx="2286000" cy="365760"/>
          </a:xfrm>
          <a:prstGeom prst="rect">
            <a:avLst/>
          </a:prstGeom>
          <a:noFill/>
          <a:ln/>
        </p:spPr>
        <p:txBody>
          <a:bodyPr wrap="square" lIns="0" tIns="0" rIns="0" bIns="0" rtlCol="0" anchor="ctr"/>
          <a:lstStyle/>
          <a:p>
            <a:pPr indent="0" marL="0">
              <a:buNone/>
            </a:pPr>
            <a:r>
              <a:rPr lang="en-US" sz="1600" b="1" dirty="0">
                <a:solidFill>
                  <a:schemeClr val="tx1"/>
                </a:solidFill>
              </a:rPr>
              <a:t>P(C | x)</a:t>
            </a:r>
            <a:endParaRPr lang="en-US" sz="1600" dirty="0"/>
          </a:p>
        </p:txBody>
      </p:sp>
      <p:sp>
        <p:nvSpPr>
          <p:cNvPr id="9" name="Posterior text"/>
          <p:cNvSpPr txBox="1"/>
          <p:nvPr/>
        </p:nvSpPr>
        <p:spPr>
          <a:xfrm>
            <a:off x="713232" y="3749040"/>
            <a:ext cx="2286000" cy="685800"/>
          </a:xfrm>
          <a:prstGeom prst="rect">
            <a:avLst/>
          </a:prstGeom>
          <a:noFill/>
          <a:ln/>
        </p:spPr>
        <p:txBody>
          <a:bodyPr wrap="square" lIns="0" tIns="0" rIns="0" bIns="0" rtlCol="0" anchor="t"/>
          <a:lstStyle/>
          <a:p>
            <a:pPr indent="0" marL="0">
              <a:buNone/>
            </a:pPr>
            <a:r>
              <a:rPr lang="en-US" sz="1400" dirty="0">
                <a:solidFill>
                  <a:schemeClr val="tx1"/>
                </a:solidFill>
              </a:rPr>
              <a:t>Belief in class C after seeing features x</a:t>
            </a:r>
            <a:endParaRPr lang="en-US" sz="1400" dirty="0"/>
          </a:p>
        </p:txBody>
      </p:sp>
      <p:sp>
        <p:nvSpPr>
          <p:cNvPr id="10" name="Likelihood card"/>
          <p:cNvSpPr/>
          <p:nvPr/>
        </p:nvSpPr>
        <p:spPr>
          <a:xfrm>
            <a:off x="3291840" y="2788920"/>
            <a:ext cx="2560320" cy="1737360"/>
          </a:xfrm>
          <a:prstGeom prst="roundRect">
            <a:avLst>
              <a:gd name="adj" fmla="val 4211"/>
            </a:avLst>
          </a:prstGeom>
          <a:solidFill>
            <a:schemeClr val="bg2"/>
          </a:solidFill>
          <a:ln w="12700">
            <a:solidFill>
              <a:schemeClr val="bg2"/>
            </a:solidFill>
            <a:prstDash val="solid"/>
          </a:ln>
        </p:spPr>
      </p:sp>
      <p:sp>
        <p:nvSpPr>
          <p:cNvPr id="11" name="Likelihood dot"/>
          <p:cNvSpPr/>
          <p:nvPr/>
        </p:nvSpPr>
        <p:spPr>
          <a:xfrm>
            <a:off x="3456432" y="2953512"/>
            <a:ext cx="182880" cy="182880"/>
          </a:xfrm>
          <a:prstGeom prst="ellipse">
            <a:avLst/>
          </a:prstGeom>
          <a:solidFill>
            <a:schemeClr val="accent3"/>
          </a:solidFill>
          <a:ln w="12700">
            <a:solidFill>
              <a:schemeClr val="accent3"/>
            </a:solidFill>
            <a:prstDash val="solid"/>
          </a:ln>
        </p:spPr>
      </p:sp>
      <p:sp>
        <p:nvSpPr>
          <p:cNvPr id="12" name="Likelihood title"/>
          <p:cNvSpPr txBox="1"/>
          <p:nvPr/>
        </p:nvSpPr>
        <p:spPr>
          <a:xfrm>
            <a:off x="3749040" y="2880360"/>
            <a:ext cx="2011680" cy="365760"/>
          </a:xfrm>
          <a:prstGeom prst="rect">
            <a:avLst/>
          </a:prstGeom>
          <a:noFill/>
          <a:ln/>
        </p:spPr>
        <p:txBody>
          <a:bodyPr wrap="square" lIns="0" tIns="0" rIns="0" bIns="0" rtlCol="0" anchor="ctr"/>
          <a:lstStyle/>
          <a:p>
            <a:pPr indent="0" marL="0">
              <a:buNone/>
            </a:pPr>
            <a:r>
              <a:rPr lang="en-US" sz="1800" b="1" dirty="0">
                <a:solidFill>
                  <a:schemeClr val="tx2"/>
                </a:solidFill>
              </a:rPr>
              <a:t>Likelihood</a:t>
            </a:r>
            <a:endParaRPr lang="en-US" sz="1800" dirty="0"/>
          </a:p>
        </p:txBody>
      </p:sp>
      <p:sp>
        <p:nvSpPr>
          <p:cNvPr id="13" name="Likelihood symbol"/>
          <p:cNvSpPr txBox="1"/>
          <p:nvPr/>
        </p:nvSpPr>
        <p:spPr>
          <a:xfrm>
            <a:off x="3456432" y="3337560"/>
            <a:ext cx="2286000" cy="365760"/>
          </a:xfrm>
          <a:prstGeom prst="rect">
            <a:avLst/>
          </a:prstGeom>
          <a:noFill/>
          <a:ln/>
        </p:spPr>
        <p:txBody>
          <a:bodyPr wrap="square" lIns="0" tIns="0" rIns="0" bIns="0" rtlCol="0" anchor="ctr"/>
          <a:lstStyle/>
          <a:p>
            <a:pPr indent="0" marL="0">
              <a:buNone/>
            </a:pPr>
            <a:r>
              <a:rPr lang="en-US" sz="1600" b="1" dirty="0">
                <a:solidFill>
                  <a:schemeClr val="tx1"/>
                </a:solidFill>
              </a:rPr>
              <a:t>P(x | C)</a:t>
            </a:r>
            <a:endParaRPr lang="en-US" sz="1600" dirty="0"/>
          </a:p>
        </p:txBody>
      </p:sp>
      <p:sp>
        <p:nvSpPr>
          <p:cNvPr id="14" name="Likelihood text"/>
          <p:cNvSpPr txBox="1"/>
          <p:nvPr/>
        </p:nvSpPr>
        <p:spPr>
          <a:xfrm>
            <a:off x="3456432" y="3749040"/>
            <a:ext cx="2286000" cy="685800"/>
          </a:xfrm>
          <a:prstGeom prst="rect">
            <a:avLst/>
          </a:prstGeom>
          <a:noFill/>
          <a:ln/>
        </p:spPr>
        <p:txBody>
          <a:bodyPr wrap="square" lIns="0" tIns="0" rIns="0" bIns="0" rtlCol="0" anchor="t"/>
          <a:lstStyle/>
          <a:p>
            <a:pPr indent="0" marL="0">
              <a:buNone/>
            </a:pPr>
            <a:r>
              <a:rPr lang="en-US" sz="1400" dirty="0">
                <a:solidFill>
                  <a:schemeClr val="tx1"/>
                </a:solidFill>
              </a:rPr>
              <a:t>How typical x is within class C</a:t>
            </a:r>
            <a:endParaRPr lang="en-US" sz="1400" dirty="0"/>
          </a:p>
        </p:txBody>
      </p:sp>
      <p:sp>
        <p:nvSpPr>
          <p:cNvPr id="15" name="Prior card"/>
          <p:cNvSpPr/>
          <p:nvPr/>
        </p:nvSpPr>
        <p:spPr>
          <a:xfrm>
            <a:off x="6035040" y="2788920"/>
            <a:ext cx="2560320" cy="1737360"/>
          </a:xfrm>
          <a:prstGeom prst="roundRect">
            <a:avLst>
              <a:gd name="adj" fmla="val 4211"/>
            </a:avLst>
          </a:prstGeom>
          <a:solidFill>
            <a:schemeClr val="bg2"/>
          </a:solidFill>
          <a:ln w="12700">
            <a:solidFill>
              <a:schemeClr val="bg2"/>
            </a:solidFill>
            <a:prstDash val="solid"/>
          </a:ln>
        </p:spPr>
      </p:sp>
      <p:sp>
        <p:nvSpPr>
          <p:cNvPr id="16" name="Prior dot"/>
          <p:cNvSpPr/>
          <p:nvPr/>
        </p:nvSpPr>
        <p:spPr>
          <a:xfrm>
            <a:off x="6199632" y="2953512"/>
            <a:ext cx="182880" cy="182880"/>
          </a:xfrm>
          <a:prstGeom prst="ellipse">
            <a:avLst/>
          </a:prstGeom>
          <a:solidFill>
            <a:schemeClr val="accent1"/>
          </a:solidFill>
          <a:ln w="12700">
            <a:solidFill>
              <a:schemeClr val="accent1"/>
            </a:solidFill>
            <a:prstDash val="solid"/>
          </a:ln>
        </p:spPr>
      </p:sp>
      <p:sp>
        <p:nvSpPr>
          <p:cNvPr id="17" name="Prior title"/>
          <p:cNvSpPr txBox="1"/>
          <p:nvPr/>
        </p:nvSpPr>
        <p:spPr>
          <a:xfrm>
            <a:off x="6492240" y="2880360"/>
            <a:ext cx="2011680" cy="365760"/>
          </a:xfrm>
          <a:prstGeom prst="rect">
            <a:avLst/>
          </a:prstGeom>
          <a:noFill/>
          <a:ln/>
        </p:spPr>
        <p:txBody>
          <a:bodyPr wrap="square" lIns="0" tIns="0" rIns="0" bIns="0" rtlCol="0" anchor="ctr"/>
          <a:lstStyle/>
          <a:p>
            <a:pPr indent="0" marL="0">
              <a:buNone/>
            </a:pPr>
            <a:r>
              <a:rPr lang="en-US" sz="1800" b="1" dirty="0">
                <a:solidFill>
                  <a:schemeClr val="tx2"/>
                </a:solidFill>
              </a:rPr>
              <a:t>Prior</a:t>
            </a:r>
            <a:endParaRPr lang="en-US" sz="1800" dirty="0"/>
          </a:p>
        </p:txBody>
      </p:sp>
      <p:sp>
        <p:nvSpPr>
          <p:cNvPr id="18" name="Prior symbol"/>
          <p:cNvSpPr txBox="1"/>
          <p:nvPr/>
        </p:nvSpPr>
        <p:spPr>
          <a:xfrm>
            <a:off x="6199632" y="3337560"/>
            <a:ext cx="2286000" cy="365760"/>
          </a:xfrm>
          <a:prstGeom prst="rect">
            <a:avLst/>
          </a:prstGeom>
          <a:noFill/>
          <a:ln/>
        </p:spPr>
        <p:txBody>
          <a:bodyPr wrap="square" lIns="0" tIns="0" rIns="0" bIns="0" rtlCol="0" anchor="ctr"/>
          <a:lstStyle/>
          <a:p>
            <a:pPr indent="0" marL="0">
              <a:buNone/>
            </a:pPr>
            <a:r>
              <a:rPr lang="en-US" sz="1600" b="1" dirty="0">
                <a:solidFill>
                  <a:schemeClr val="tx1"/>
                </a:solidFill>
              </a:rPr>
              <a:t>P(C)</a:t>
            </a:r>
            <a:endParaRPr lang="en-US" sz="1600" dirty="0"/>
          </a:p>
        </p:txBody>
      </p:sp>
      <p:sp>
        <p:nvSpPr>
          <p:cNvPr id="19" name="Prior text"/>
          <p:cNvSpPr txBox="1"/>
          <p:nvPr/>
        </p:nvSpPr>
        <p:spPr>
          <a:xfrm>
            <a:off x="6199632" y="3749040"/>
            <a:ext cx="2286000" cy="685800"/>
          </a:xfrm>
          <a:prstGeom prst="rect">
            <a:avLst/>
          </a:prstGeom>
          <a:noFill/>
          <a:ln/>
        </p:spPr>
        <p:txBody>
          <a:bodyPr wrap="square" lIns="0" tIns="0" rIns="0" bIns="0" rtlCol="0" anchor="t"/>
          <a:lstStyle/>
          <a:p>
            <a:pPr indent="0" marL="0">
              <a:buNone/>
            </a:pPr>
            <a:r>
              <a:rPr lang="en-US" sz="1400" dirty="0">
                <a:solidFill>
                  <a:schemeClr val="tx1"/>
                </a:solidFill>
              </a:rPr>
              <a:t>How common class C is before seeing x</a:t>
            </a:r>
            <a:endParaRPr lang="en-US" sz="14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914400"/>
          </a:xfrm>
          <a:prstGeom prst="rect">
            <a:avLst/>
          </a:prstGeom>
          <a:noFill/>
          <a:ln/>
        </p:spPr>
        <p:txBody>
          <a:bodyPr wrap="square" lIns="0" tIns="0" rIns="0" bIns="0" rtlCol="0" anchor="ctr"/>
          <a:lstStyle/>
          <a:p>
            <a:pPr algn="l" indent="0" marL="0">
              <a:buNone/>
            </a:pPr>
            <a:r>
              <a:rPr lang="en-US" sz="3200" b="1" dirty="0">
                <a:solidFill>
                  <a:schemeClr val="tx2"/>
                </a:solidFill>
              </a:rPr>
              <a:t>Distributions you will meet</a:t>
            </a:r>
            <a:endParaRPr lang="en-US" sz="3200" dirty="0"/>
          </a:p>
        </p:txBody>
      </p:sp>
      <p:graphicFrame>
        <p:nvGraphicFramePr>
          <p:cNvPr id="6" name="Distributions table"/>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2743200"/>
                <a:gridCol w="5303520"/>
              </a:tblGrid>
              <a:tr h="502920">
                <a:tc>
                  <a:txBody>
                    <a:bodyPr/>
                    <a:lstStyle/>
                    <a:p>
                      <a:pPr algn="l" indent="0" marL="0">
                        <a:buNone/>
                      </a:pPr>
                      <a:r>
                        <a:rPr lang="en-US" sz="1400" b="1" dirty="0">
                          <a:solidFill>
                            <a:srgbClr val="FFFFFF"/>
                          </a:solidFill>
                        </a:rPr>
                        <a:t>Distribution</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0B2F3A"/>
                    </a:solidFill>
                  </a:tcPr>
                </a:tc>
                <a:tc>
                  <a:txBody>
                    <a:bodyPr/>
                    <a:lstStyle/>
                    <a:p>
                      <a:pPr algn="l" indent="0" marL="0">
                        <a:buNone/>
                      </a:pPr>
                      <a:r>
                        <a:rPr lang="en-US" sz="1400" b="1" dirty="0">
                          <a:solidFill>
                            <a:srgbClr val="FFFFFF"/>
                          </a:solidFill>
                        </a:rPr>
                        <a:t>Typical use in data mining</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0B2F3A"/>
                    </a:solidFill>
                  </a:tcPr>
                </a:tc>
              </a:tr>
              <a:tr h="502920">
                <a:tc>
                  <a:txBody>
                    <a:bodyPr/>
                    <a:lstStyle/>
                    <a:p>
                      <a:pPr indent="0" marL="0">
                        <a:buNone/>
                      </a:pPr>
                      <a:r>
                        <a:rPr lang="en-US" sz="1400" b="1" dirty="0">
                          <a:solidFill>
                            <a:srgbClr val="0B2F3A"/>
                          </a:solidFill>
                        </a:rPr>
                        <a:t>Bernoulli / binomial</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EAF2F4"/>
                    </a:solidFill>
                  </a:tcPr>
                </a:tc>
                <a:tc>
                  <a:txBody>
                    <a:bodyPr/>
                    <a:lstStyle/>
                    <a:p>
                      <a:pPr indent="0" marL="0">
                        <a:buNone/>
                      </a:pPr>
                      <a:r>
                        <a:rPr lang="en-US" sz="1400" dirty="0">
                          <a:solidFill>
                            <a:srgbClr val="16222E"/>
                          </a:solidFill>
                        </a:rPr>
                        <a:t>Yes-no outcomes: churn, fraud, click</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EAF2F4"/>
                    </a:solidFill>
                  </a:tcPr>
                </a:tc>
              </a:tr>
              <a:tr h="502920">
                <a:tc>
                  <a:txBody>
                    <a:bodyPr/>
                    <a:lstStyle/>
                    <a:p>
                      <a:pPr indent="0" marL="0">
                        <a:buNone/>
                      </a:pPr>
                      <a:r>
                        <a:rPr lang="en-US" sz="1400" b="1" dirty="0">
                          <a:solidFill>
                            <a:srgbClr val="0B2F3A"/>
                          </a:solidFill>
                        </a:rPr>
                        <a:t>Poisson</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FFFFFF"/>
                    </a:solidFill>
                  </a:tcPr>
                </a:tc>
                <a:tc>
                  <a:txBody>
                    <a:bodyPr/>
                    <a:lstStyle/>
                    <a:p>
                      <a:pPr indent="0" marL="0">
                        <a:buNone/>
                      </a:pPr>
                      <a:r>
                        <a:rPr lang="en-US" sz="1400" dirty="0">
                          <a:solidFill>
                            <a:srgbClr val="16222E"/>
                          </a:solidFill>
                        </a:rPr>
                        <a:t>Counts of events: arrivals, claims, visits</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0B2F3A"/>
                          </a:solidFill>
                        </a:rPr>
                        <a:t>Normal</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EAF2F4"/>
                    </a:solidFill>
                  </a:tcPr>
                </a:tc>
                <a:tc>
                  <a:txBody>
                    <a:bodyPr/>
                    <a:lstStyle/>
                    <a:p>
                      <a:pPr indent="0" marL="0">
                        <a:buNone/>
                      </a:pPr>
                      <a:r>
                        <a:rPr lang="en-US" sz="1400" dirty="0">
                          <a:solidFill>
                            <a:srgbClr val="16222E"/>
                          </a:solidFill>
                        </a:rPr>
                        <a:t>Measurement noise; sums by the CLT</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EAF2F4"/>
                    </a:solidFill>
                  </a:tcPr>
                </a:tc>
              </a:tr>
              <a:tr h="502920">
                <a:tc>
                  <a:txBody>
                    <a:bodyPr/>
                    <a:lstStyle/>
                    <a:p>
                      <a:pPr indent="0" marL="0">
                        <a:buNone/>
                      </a:pPr>
                      <a:r>
                        <a:rPr lang="en-US" sz="1400" b="1" dirty="0">
                          <a:solidFill>
                            <a:srgbClr val="0B2F3A"/>
                          </a:solidFill>
                        </a:rPr>
                        <a:t>Multinomial</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FFFFFF"/>
                    </a:solidFill>
                  </a:tcPr>
                </a:tc>
                <a:tc>
                  <a:txBody>
                    <a:bodyPr/>
                    <a:lstStyle/>
                    <a:p>
                      <a:pPr indent="0" marL="0">
                        <a:buNone/>
                      </a:pPr>
                      <a:r>
                        <a:rPr lang="en-US" sz="1400" dirty="0">
                          <a:solidFill>
                            <a:srgbClr val="16222E"/>
                          </a:solidFill>
                        </a:rPr>
                        <a:t>Words in text, categorical features</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0B2F3A"/>
                          </a:solidFill>
                        </a:rPr>
                        <a:t>Exponential / Weibull</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EAF2F4"/>
                    </a:solidFill>
                  </a:tcPr>
                </a:tc>
                <a:tc>
                  <a:txBody>
                    <a:bodyPr/>
                    <a:lstStyle/>
                    <a:p>
                      <a:pPr indent="0" marL="0">
                        <a:buNone/>
                      </a:pPr>
                      <a:r>
                        <a:rPr lang="en-US" sz="1400" dirty="0">
                          <a:solidFill>
                            <a:srgbClr val="16222E"/>
                          </a:solidFill>
                        </a:rPr>
                        <a:t>Time to event: failure, churn, survival</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EAF2F4"/>
                    </a:solidFill>
                  </a:tcPr>
                </a:tc>
              </a:tr>
            </a:tbl>
          </a:graphicData>
        </a:graphic>
      </p:graphicFrame>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914400"/>
          </a:xfrm>
          <a:prstGeom prst="rect">
            <a:avLst/>
          </a:prstGeom>
          <a:noFill/>
          <a:ln/>
        </p:spPr>
        <p:txBody>
          <a:bodyPr wrap="square" lIns="0" tIns="0" rIns="0" bIns="0" rtlCol="0" anchor="ctr"/>
          <a:lstStyle/>
          <a:p>
            <a:pPr algn="l" indent="0" marL="0">
              <a:buNone/>
            </a:pPr>
            <a:r>
              <a:rPr lang="en-US" sz="3200" b="1" dirty="0">
                <a:solidFill>
                  <a:schemeClr val="tx2"/>
                </a:solidFill>
              </a:rPr>
              <a:t>Probability across mining tasks</a:t>
            </a:r>
            <a:endParaRPr lang="en-US" sz="3200" dirty="0"/>
          </a:p>
        </p:txBody>
      </p:sp>
      <p:graphicFrame>
        <p:nvGraphicFramePr>
          <p:cNvPr id="7" name="Tasks table"/>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914400"/>
        </p:xfrm>
        <a:graphic>
          <a:graphicData uri="http://schemas.openxmlformats.org/drawingml/2006/table">
            <a:tbl>
              <a:tblPr/>
              <a:tblGrid>
                <a:gridCol w="2377440"/>
                <a:gridCol w="5669280"/>
              </a:tblGrid>
              <a:tr h="365760">
                <a:tc>
                  <a:txBody>
                    <a:bodyPr/>
                    <a:lstStyle/>
                    <a:p>
                      <a:pPr algn="l" indent="0" marL="0">
                        <a:buNone/>
                      </a:pPr>
                      <a:r>
                        <a:rPr lang="en-US" sz="1400" b="1" dirty="0">
                          <a:solidFill>
                            <a:srgbClr val="FFFFFF"/>
                          </a:solidFill>
                        </a:rPr>
                        <a:t>Task</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0B2F3A"/>
                    </a:solidFill>
                  </a:tcPr>
                </a:tc>
                <a:tc>
                  <a:txBody>
                    <a:bodyPr/>
                    <a:lstStyle/>
                    <a:p>
                      <a:pPr algn="l" indent="0" marL="0">
                        <a:buNone/>
                      </a:pPr>
                      <a:r>
                        <a:rPr lang="en-US" sz="1400" b="1" dirty="0">
                          <a:solidFill>
                            <a:srgbClr val="FFFFFF"/>
                          </a:solidFill>
                        </a:rPr>
                        <a:t>Probabilistic idea</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0B2F3A"/>
                    </a:solidFill>
                  </a:tcPr>
                </a:tc>
              </a:tr>
              <a:tr h="365760">
                <a:tc>
                  <a:txBody>
                    <a:bodyPr/>
                    <a:lstStyle/>
                    <a:p>
                      <a:pPr indent="0" marL="0">
                        <a:buNone/>
                      </a:pPr>
                      <a:r>
                        <a:rPr lang="en-US" sz="1400" b="1" dirty="0">
                          <a:solidFill>
                            <a:srgbClr val="0B2F3A"/>
                          </a:solidFill>
                        </a:rPr>
                        <a:t>Classification</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EAF2F4"/>
                    </a:solidFill>
                  </a:tcPr>
                </a:tc>
                <a:tc>
                  <a:txBody>
                    <a:bodyPr/>
                    <a:lstStyle/>
                    <a:p>
                      <a:pPr indent="0" marL="0">
                        <a:buNone/>
                      </a:pPr>
                      <a:r>
                        <a:rPr lang="en-US" sz="1400" dirty="0">
                          <a:solidFill>
                            <a:srgbClr val="16222E"/>
                          </a:solidFill>
                        </a:rPr>
                        <a:t>Posterior P(class | features): naive Bayes, logistic regression</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EAF2F4"/>
                    </a:solidFill>
                  </a:tcPr>
                </a:tc>
              </a:tr>
              <a:tr h="365760">
                <a:tc>
                  <a:txBody>
                    <a:bodyPr/>
                    <a:lstStyle/>
                    <a:p>
                      <a:pPr indent="0" marL="0">
                        <a:buNone/>
                      </a:pPr>
                      <a:r>
                        <a:rPr lang="en-US" sz="1400" b="1" dirty="0">
                          <a:solidFill>
                            <a:srgbClr val="0B2F3A"/>
                          </a:solidFill>
                        </a:rPr>
                        <a:t>Association rules</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FFFFFF"/>
                    </a:solidFill>
                  </a:tcPr>
                </a:tc>
                <a:tc>
                  <a:txBody>
                    <a:bodyPr/>
                    <a:lstStyle/>
                    <a:p>
                      <a:pPr indent="0" marL="0">
                        <a:buNone/>
                      </a:pPr>
                      <a:r>
                        <a:rPr lang="en-US" sz="1400" dirty="0">
                          <a:solidFill>
                            <a:srgbClr val="16222E"/>
                          </a:solidFill>
                        </a:rPr>
                        <a:t>Support, confidence and lift are probabilities</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FFFFFF"/>
                    </a:solidFill>
                  </a:tcPr>
                </a:tc>
              </a:tr>
              <a:tr h="365760">
                <a:tc>
                  <a:txBody>
                    <a:bodyPr/>
                    <a:lstStyle/>
                    <a:p>
                      <a:pPr indent="0" marL="0">
                        <a:buNone/>
                      </a:pPr>
                      <a:r>
                        <a:rPr lang="en-US" sz="1400" b="1" dirty="0">
                          <a:solidFill>
                            <a:srgbClr val="0B2F3A"/>
                          </a:solidFill>
                        </a:rPr>
                        <a:t>Clustering</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EAF2F4"/>
                    </a:solidFill>
                  </a:tcPr>
                </a:tc>
                <a:tc>
                  <a:txBody>
                    <a:bodyPr/>
                    <a:lstStyle/>
                    <a:p>
                      <a:pPr indent="0" marL="0">
                        <a:buNone/>
                      </a:pPr>
                      <a:r>
                        <a:rPr lang="en-US" sz="1400" dirty="0">
                          <a:solidFill>
                            <a:srgbClr val="16222E"/>
                          </a:solidFill>
                        </a:rPr>
                        <a:t>Mixture models fitted by EM; membership is a probability</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EAF2F4"/>
                    </a:solidFill>
                  </a:tcPr>
                </a:tc>
              </a:tr>
              <a:tr h="365760">
                <a:tc>
                  <a:txBody>
                    <a:bodyPr/>
                    <a:lstStyle/>
                    <a:p>
                      <a:pPr indent="0" marL="0">
                        <a:buNone/>
                      </a:pPr>
                      <a:r>
                        <a:rPr lang="en-US" sz="1400" b="1" dirty="0">
                          <a:solidFill>
                            <a:srgbClr val="0B2F3A"/>
                          </a:solidFill>
                        </a:rPr>
                        <a:t>Regression</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FFFFFF"/>
                    </a:solidFill>
                  </a:tcPr>
                </a:tc>
                <a:tc>
                  <a:txBody>
                    <a:bodyPr/>
                    <a:lstStyle/>
                    <a:p>
                      <a:pPr indent="0" marL="0">
                        <a:buNone/>
                      </a:pPr>
                      <a:r>
                        <a:rPr lang="en-US" sz="1400" dirty="0">
                          <a:solidFill>
                            <a:srgbClr val="16222E"/>
                          </a:solidFill>
                        </a:rPr>
                        <a:t>Conditional expectation E[Y | X] plus an error law</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FFFFFF"/>
                    </a:solidFill>
                  </a:tcPr>
                </a:tc>
              </a:tr>
              <a:tr h="365760">
                <a:tc>
                  <a:txBody>
                    <a:bodyPr/>
                    <a:lstStyle/>
                    <a:p>
                      <a:pPr indent="0" marL="0">
                        <a:buNone/>
                      </a:pPr>
                      <a:r>
                        <a:rPr lang="en-US" sz="1400" b="1" dirty="0">
                          <a:solidFill>
                            <a:srgbClr val="0B2F3A"/>
                          </a:solidFill>
                        </a:rPr>
                        <a:t>Anomaly detection</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EAF2F4"/>
                    </a:solidFill>
                  </a:tcPr>
                </a:tc>
                <a:tc>
                  <a:txBody>
                    <a:bodyPr/>
                    <a:lstStyle/>
                    <a:p>
                      <a:pPr indent="0" marL="0">
                        <a:buNone/>
                      </a:pPr>
                      <a:r>
                        <a:rPr lang="en-US" sz="1400" dirty="0">
                          <a:solidFill>
                            <a:srgbClr val="16222E"/>
                          </a:solidFill>
                        </a:rPr>
                        <a:t>Very low density or likelihood under a fitted model</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EAF2F4"/>
                    </a:solidFill>
                  </a:tcPr>
                </a:tc>
              </a:tr>
              <a:tr h="365760">
                <a:tc>
                  <a:txBody>
                    <a:bodyPr/>
                    <a:lstStyle/>
                    <a:p>
                      <a:pPr indent="0" marL="0">
                        <a:buNone/>
                      </a:pPr>
                      <a:r>
                        <a:rPr lang="en-US" sz="1400" b="1" dirty="0">
                          <a:solidFill>
                            <a:srgbClr val="0B2F3A"/>
                          </a:solidFill>
                        </a:rPr>
                        <a:t>Time series</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FFFFFF"/>
                    </a:solidFill>
                  </a:tcPr>
                </a:tc>
                <a:tc>
                  <a:txBody>
                    <a:bodyPr/>
                    <a:lstStyle/>
                    <a:p>
                      <a:pPr indent="0" marL="0">
                        <a:buNone/>
                      </a:pPr>
                      <a:r>
                        <a:rPr lang="en-US" sz="1400" dirty="0">
                          <a:solidFill>
                            <a:srgbClr val="16222E"/>
                          </a:solidFill>
                        </a:rPr>
                        <a:t>Markov chains, hidden Markov models</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FFFFFF"/>
                    </a:solidFill>
                  </a:tcPr>
                </a:tc>
              </a:tr>
              <a:tr h="365760">
                <a:tc>
                  <a:txBody>
                    <a:bodyPr/>
                    <a:lstStyle/>
                    <a:p>
                      <a:pPr indent="0" marL="0">
                        <a:buNone/>
                      </a:pPr>
                      <a:r>
                        <a:rPr lang="en-US" sz="1400" b="1" dirty="0">
                          <a:solidFill>
                            <a:srgbClr val="0B2F3A"/>
                          </a:solidFill>
                        </a:rPr>
                        <a:t>Text mining</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EAF2F4"/>
                    </a:solidFill>
                  </a:tcPr>
                </a:tc>
                <a:tc>
                  <a:txBody>
                    <a:bodyPr/>
                    <a:lstStyle/>
                    <a:p>
                      <a:pPr indent="0" marL="0">
                        <a:buNone/>
                      </a:pPr>
                      <a:r>
                        <a:rPr lang="en-US" sz="1400" dirty="0">
                          <a:solidFill>
                            <a:srgbClr val="16222E"/>
                          </a:solidFill>
                        </a:rPr>
                        <a:t>Multinomial word models, topic models (LDA)</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EAF2F4"/>
                    </a:solidFill>
                  </a:tcPr>
                </a:tc>
              </a:tr>
              <a:tr h="365760">
                <a:tc>
                  <a:txBody>
                    <a:bodyPr/>
                    <a:lstStyle/>
                    <a:p>
                      <a:pPr indent="0" marL="0">
                        <a:buNone/>
                      </a:pPr>
                      <a:r>
                        <a:rPr lang="en-US" sz="1400" b="1" dirty="0">
                          <a:solidFill>
                            <a:srgbClr val="0B2F3A"/>
                          </a:solidFill>
                        </a:rPr>
                        <a:t>Recommenders</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FFFFFF"/>
                    </a:solidFill>
                  </a:tcPr>
                </a:tc>
                <a:tc>
                  <a:txBody>
                    <a:bodyPr/>
                    <a:lstStyle/>
                    <a:p>
                      <a:pPr indent="0" marL="0">
                        <a:buNone/>
                      </a:pPr>
                      <a:r>
                        <a:rPr lang="en-US" sz="1400" dirty="0">
                          <a:solidFill>
                            <a:srgbClr val="16222E"/>
                          </a:solidFill>
                        </a:rPr>
                        <a:t>Probabilistic matrix factorisation</a:t>
                      </a:r>
                      <a:endParaRPr lang="en-US" sz="1400" dirty="0"/>
                    </a:p>
                  </a:txBody>
                  <a:tcPr marL="109728" marR="109728" marT="0" marB="0" anchor="ctr">
                    <a:lnL w="6350" cap="flat" cmpd="sng" algn="ctr">
                      <a:solidFill>
                        <a:srgbClr val="EAF2F4"/>
                      </a:solidFill>
                      <a:prstDash val="solid"/>
                      <a:round/>
                      <a:headEnd type="none" w="med" len="med"/>
                      <a:tailEnd type="none" w="med" len="med"/>
                    </a:lnL>
                    <a:lnR w="6350" cap="flat" cmpd="sng" algn="ctr">
                      <a:solidFill>
                        <a:srgbClr val="EAF2F4"/>
                      </a:solidFill>
                      <a:prstDash val="solid"/>
                      <a:round/>
                      <a:headEnd type="none" w="med" len="med"/>
                      <a:tailEnd type="none" w="med" len="med"/>
                    </a:lnR>
                    <a:lnT w="6350" cap="flat" cmpd="sng" algn="ctr">
                      <a:solidFill>
                        <a:srgbClr val="EAF2F4"/>
                      </a:solidFill>
                      <a:prstDash val="solid"/>
                      <a:round/>
                      <a:headEnd type="none" w="med" len="med"/>
                      <a:tailEnd type="none" w="med" len="med"/>
                    </a:lnT>
                    <a:lnB w="6350" cap="flat" cmpd="sng" algn="ctr">
                      <a:solidFill>
                        <a:srgbClr val="EAF2F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914400"/>
          </a:xfrm>
          <a:prstGeom prst="rect">
            <a:avLst/>
          </a:prstGeom>
          <a:noFill/>
          <a:ln/>
        </p:spPr>
        <p:txBody>
          <a:bodyPr wrap="square" lIns="0" tIns="0" rIns="0" bIns="0" rtlCol="0" anchor="ctr"/>
          <a:lstStyle/>
          <a:p>
            <a:pPr algn="l" indent="0" marL="0">
              <a:buNone/>
            </a:pPr>
            <a:r>
              <a:rPr lang="en-US" sz="3200" b="1" dirty="0">
                <a:solidFill>
                  <a:schemeClr val="tx2"/>
                </a:solidFill>
              </a:rPr>
              <a:t>Association rules in probability terms</a:t>
            </a:r>
            <a:endParaRPr lang="en-US" sz="3200" dirty="0"/>
          </a:p>
        </p:txBody>
      </p:sp>
      <p:sp>
        <p:nvSpPr>
          <p:cNvPr id="3" name="Support card"/>
          <p:cNvSpPr/>
          <p:nvPr/>
        </p:nvSpPr>
        <p:spPr>
          <a:xfrm>
            <a:off x="548640" y="1371600"/>
            <a:ext cx="2560320" cy="2011680"/>
          </a:xfrm>
          <a:prstGeom prst="roundRect">
            <a:avLst>
              <a:gd name="adj" fmla="val 3636"/>
            </a:avLst>
          </a:prstGeom>
          <a:solidFill>
            <a:schemeClr val="bg2"/>
          </a:solidFill>
          <a:ln w="12700">
            <a:solidFill>
              <a:schemeClr val="bg2"/>
            </a:solidFill>
            <a:prstDash val="solid"/>
          </a:ln>
        </p:spPr>
      </p:sp>
      <p:sp>
        <p:nvSpPr>
          <p:cNvPr id="4" name="Support dot"/>
          <p:cNvSpPr/>
          <p:nvPr/>
        </p:nvSpPr>
        <p:spPr>
          <a:xfrm>
            <a:off x="713232" y="1554480"/>
            <a:ext cx="182880" cy="182880"/>
          </a:xfrm>
          <a:prstGeom prst="ellipse">
            <a:avLst/>
          </a:prstGeom>
          <a:solidFill>
            <a:schemeClr val="accent2"/>
          </a:solidFill>
          <a:ln w="12700">
            <a:solidFill>
              <a:schemeClr val="accent2"/>
            </a:solidFill>
            <a:prstDash val="solid"/>
          </a:ln>
        </p:spPr>
      </p:sp>
      <p:sp>
        <p:nvSpPr>
          <p:cNvPr id="5" name="Support title"/>
          <p:cNvSpPr txBox="1"/>
          <p:nvPr/>
        </p:nvSpPr>
        <p:spPr>
          <a:xfrm>
            <a:off x="1005840" y="1463040"/>
            <a:ext cx="2011680" cy="365760"/>
          </a:xfrm>
          <a:prstGeom prst="rect">
            <a:avLst/>
          </a:prstGeom>
          <a:noFill/>
          <a:ln/>
        </p:spPr>
        <p:txBody>
          <a:bodyPr wrap="square" lIns="0" tIns="0" rIns="0" bIns="0" rtlCol="0" anchor="ctr"/>
          <a:lstStyle/>
          <a:p>
            <a:pPr indent="0" marL="0">
              <a:buNone/>
            </a:pPr>
            <a:r>
              <a:rPr lang="en-US" sz="1800" b="1" dirty="0">
                <a:solidFill>
                  <a:schemeClr val="tx2"/>
                </a:solidFill>
              </a:rPr>
              <a:t>Support</a:t>
            </a:r>
            <a:endParaRPr lang="en-US" sz="1800" dirty="0"/>
          </a:p>
        </p:txBody>
      </p:sp>
      <p:sp>
        <p:nvSpPr>
          <p:cNvPr id="6" name="Support formula"/>
          <p:cNvSpPr txBox="1"/>
          <p:nvPr/>
        </p:nvSpPr>
        <p:spPr>
          <a:xfrm>
            <a:off x="713232" y="1965960"/>
            <a:ext cx="2286000" cy="457200"/>
          </a:xfrm>
          <a:prstGeom prst="rect">
            <a:avLst/>
          </a:prstGeom>
          <a:noFill/>
          <a:ln/>
        </p:spPr>
        <p:txBody>
          <a:bodyPr wrap="square" lIns="0" tIns="0" rIns="0" bIns="0" rtlCol="0" anchor="ctr"/>
          <a:lstStyle/>
          <a:p>
            <a:pPr indent="0" marL="0">
              <a:buNone/>
            </a:pPr>
            <a:r>
              <a:rPr lang="en-US" sz="2200" b="1" dirty="0">
                <a:solidFill>
                  <a:schemeClr val="tx1"/>
                </a:solidFill>
              </a:rPr>
              <a:t>P(A ∩ B)</a:t>
            </a:r>
            <a:endParaRPr lang="en-US" sz="2200" dirty="0"/>
          </a:p>
        </p:txBody>
      </p:sp>
      <p:sp>
        <p:nvSpPr>
          <p:cNvPr id="7" name="Support text"/>
          <p:cNvSpPr txBox="1"/>
          <p:nvPr/>
        </p:nvSpPr>
        <p:spPr>
          <a:xfrm>
            <a:off x="713232" y="2514600"/>
            <a:ext cx="2286000" cy="777240"/>
          </a:xfrm>
          <a:prstGeom prst="rect">
            <a:avLst/>
          </a:prstGeom>
          <a:noFill/>
          <a:ln/>
        </p:spPr>
        <p:txBody>
          <a:bodyPr wrap="square" lIns="0" tIns="0" rIns="0" bIns="0" rtlCol="0" anchor="t"/>
          <a:lstStyle/>
          <a:p>
            <a:pPr indent="0" marL="0">
              <a:buNone/>
            </a:pPr>
            <a:r>
              <a:rPr lang="en-US" sz="1400" dirty="0">
                <a:solidFill>
                  <a:schemeClr val="tx1"/>
                </a:solidFill>
              </a:rPr>
              <a:t>How often A and B occur together</a:t>
            </a:r>
            <a:endParaRPr lang="en-US" sz="1400" dirty="0"/>
          </a:p>
        </p:txBody>
      </p:sp>
      <p:sp>
        <p:nvSpPr>
          <p:cNvPr id="8" name="Confidence card"/>
          <p:cNvSpPr/>
          <p:nvPr/>
        </p:nvSpPr>
        <p:spPr>
          <a:xfrm>
            <a:off x="3291840" y="1371600"/>
            <a:ext cx="2560320" cy="2011680"/>
          </a:xfrm>
          <a:prstGeom prst="roundRect">
            <a:avLst>
              <a:gd name="adj" fmla="val 3636"/>
            </a:avLst>
          </a:prstGeom>
          <a:solidFill>
            <a:schemeClr val="bg2"/>
          </a:solidFill>
          <a:ln w="12700">
            <a:solidFill>
              <a:schemeClr val="bg2"/>
            </a:solidFill>
            <a:prstDash val="solid"/>
          </a:ln>
        </p:spPr>
      </p:sp>
      <p:sp>
        <p:nvSpPr>
          <p:cNvPr id="9" name="Confidence dot"/>
          <p:cNvSpPr/>
          <p:nvPr/>
        </p:nvSpPr>
        <p:spPr>
          <a:xfrm>
            <a:off x="3456432" y="1554480"/>
            <a:ext cx="182880" cy="182880"/>
          </a:xfrm>
          <a:prstGeom prst="ellipse">
            <a:avLst/>
          </a:prstGeom>
          <a:solidFill>
            <a:schemeClr val="accent3"/>
          </a:solidFill>
          <a:ln w="12700">
            <a:solidFill>
              <a:schemeClr val="accent3"/>
            </a:solidFill>
            <a:prstDash val="solid"/>
          </a:ln>
        </p:spPr>
      </p:sp>
      <p:sp>
        <p:nvSpPr>
          <p:cNvPr id="10" name="Confidence title"/>
          <p:cNvSpPr txBox="1"/>
          <p:nvPr/>
        </p:nvSpPr>
        <p:spPr>
          <a:xfrm>
            <a:off x="3749040" y="1463040"/>
            <a:ext cx="2011680" cy="365760"/>
          </a:xfrm>
          <a:prstGeom prst="rect">
            <a:avLst/>
          </a:prstGeom>
          <a:noFill/>
          <a:ln/>
        </p:spPr>
        <p:txBody>
          <a:bodyPr wrap="square" lIns="0" tIns="0" rIns="0" bIns="0" rtlCol="0" anchor="ctr"/>
          <a:lstStyle/>
          <a:p>
            <a:pPr indent="0" marL="0">
              <a:buNone/>
            </a:pPr>
            <a:r>
              <a:rPr lang="en-US" sz="1800" b="1" dirty="0">
                <a:solidFill>
                  <a:schemeClr val="tx2"/>
                </a:solidFill>
              </a:rPr>
              <a:t>Confidence</a:t>
            </a:r>
            <a:endParaRPr lang="en-US" sz="1800" dirty="0"/>
          </a:p>
        </p:txBody>
      </p:sp>
      <p:sp>
        <p:nvSpPr>
          <p:cNvPr id="11" name="Confidence formula"/>
          <p:cNvSpPr txBox="1"/>
          <p:nvPr/>
        </p:nvSpPr>
        <p:spPr>
          <a:xfrm>
            <a:off x="3456432" y="1965960"/>
            <a:ext cx="2286000" cy="457200"/>
          </a:xfrm>
          <a:prstGeom prst="rect">
            <a:avLst/>
          </a:prstGeom>
          <a:noFill/>
          <a:ln/>
        </p:spPr>
        <p:txBody>
          <a:bodyPr wrap="square" lIns="0" tIns="0" rIns="0" bIns="0" rtlCol="0" anchor="ctr"/>
          <a:lstStyle/>
          <a:p>
            <a:pPr indent="0" marL="0">
              <a:buNone/>
            </a:pPr>
            <a:r>
              <a:rPr lang="en-US" sz="2200" b="1" dirty="0">
                <a:solidFill>
                  <a:schemeClr val="tx1"/>
                </a:solidFill>
              </a:rPr>
              <a:t>P(B | A)</a:t>
            </a:r>
            <a:endParaRPr lang="en-US" sz="2200" dirty="0"/>
          </a:p>
        </p:txBody>
      </p:sp>
      <p:sp>
        <p:nvSpPr>
          <p:cNvPr id="12" name="Confidence text"/>
          <p:cNvSpPr txBox="1"/>
          <p:nvPr/>
        </p:nvSpPr>
        <p:spPr>
          <a:xfrm>
            <a:off x="3456432" y="2514600"/>
            <a:ext cx="2286000" cy="777240"/>
          </a:xfrm>
          <a:prstGeom prst="rect">
            <a:avLst/>
          </a:prstGeom>
          <a:noFill/>
          <a:ln/>
        </p:spPr>
        <p:txBody>
          <a:bodyPr wrap="square" lIns="0" tIns="0" rIns="0" bIns="0" rtlCol="0" anchor="t"/>
          <a:lstStyle/>
          <a:p>
            <a:pPr indent="0" marL="0">
              <a:buNone/>
            </a:pPr>
            <a:r>
              <a:rPr lang="en-US" sz="1400" dirty="0">
                <a:solidFill>
                  <a:schemeClr val="tx1"/>
                </a:solidFill>
              </a:rPr>
              <a:t>How often B occurs when A occurs</a:t>
            </a:r>
            <a:endParaRPr lang="en-US" sz="1400" dirty="0"/>
          </a:p>
        </p:txBody>
      </p:sp>
      <p:sp>
        <p:nvSpPr>
          <p:cNvPr id="13" name="Lift card"/>
          <p:cNvSpPr/>
          <p:nvPr/>
        </p:nvSpPr>
        <p:spPr>
          <a:xfrm>
            <a:off x="6035040" y="1371600"/>
            <a:ext cx="2560320" cy="2011680"/>
          </a:xfrm>
          <a:prstGeom prst="roundRect">
            <a:avLst>
              <a:gd name="adj" fmla="val 3636"/>
            </a:avLst>
          </a:prstGeom>
          <a:solidFill>
            <a:schemeClr val="bg2"/>
          </a:solidFill>
          <a:ln w="12700">
            <a:solidFill>
              <a:schemeClr val="bg2"/>
            </a:solidFill>
            <a:prstDash val="solid"/>
          </a:ln>
        </p:spPr>
      </p:sp>
      <p:sp>
        <p:nvSpPr>
          <p:cNvPr id="14" name="Lift dot"/>
          <p:cNvSpPr/>
          <p:nvPr/>
        </p:nvSpPr>
        <p:spPr>
          <a:xfrm>
            <a:off x="6199632" y="1554480"/>
            <a:ext cx="182880" cy="182880"/>
          </a:xfrm>
          <a:prstGeom prst="ellipse">
            <a:avLst/>
          </a:prstGeom>
          <a:solidFill>
            <a:schemeClr val="accent1"/>
          </a:solidFill>
          <a:ln w="12700">
            <a:solidFill>
              <a:schemeClr val="accent1"/>
            </a:solidFill>
            <a:prstDash val="solid"/>
          </a:ln>
        </p:spPr>
      </p:sp>
      <p:sp>
        <p:nvSpPr>
          <p:cNvPr id="15" name="Lift title"/>
          <p:cNvSpPr txBox="1"/>
          <p:nvPr/>
        </p:nvSpPr>
        <p:spPr>
          <a:xfrm>
            <a:off x="6492240" y="1463040"/>
            <a:ext cx="2011680" cy="365760"/>
          </a:xfrm>
          <a:prstGeom prst="rect">
            <a:avLst/>
          </a:prstGeom>
          <a:noFill/>
          <a:ln/>
        </p:spPr>
        <p:txBody>
          <a:bodyPr wrap="square" lIns="0" tIns="0" rIns="0" bIns="0" rtlCol="0" anchor="ctr"/>
          <a:lstStyle/>
          <a:p>
            <a:pPr indent="0" marL="0">
              <a:buNone/>
            </a:pPr>
            <a:r>
              <a:rPr lang="en-US" sz="1800" b="1" dirty="0">
                <a:solidFill>
                  <a:schemeClr val="tx2"/>
                </a:solidFill>
              </a:rPr>
              <a:t>Lift</a:t>
            </a:r>
            <a:endParaRPr lang="en-US" sz="1800" dirty="0"/>
          </a:p>
        </p:txBody>
      </p:sp>
      <p:sp>
        <p:nvSpPr>
          <p:cNvPr id="16" name="Lift formula"/>
          <p:cNvSpPr txBox="1"/>
          <p:nvPr/>
        </p:nvSpPr>
        <p:spPr>
          <a:xfrm>
            <a:off x="6199632" y="1965960"/>
            <a:ext cx="2286000" cy="457200"/>
          </a:xfrm>
          <a:prstGeom prst="rect">
            <a:avLst/>
          </a:prstGeom>
          <a:noFill/>
          <a:ln/>
        </p:spPr>
        <p:txBody>
          <a:bodyPr wrap="square" lIns="0" tIns="0" rIns="0" bIns="0" rtlCol="0" anchor="ctr"/>
          <a:lstStyle/>
          <a:p>
            <a:pPr indent="0" marL="0">
              <a:buNone/>
            </a:pPr>
            <a:r>
              <a:rPr lang="en-US" sz="2200" b="1" dirty="0">
                <a:solidFill>
                  <a:schemeClr val="tx1"/>
                </a:solidFill>
              </a:rPr>
              <a:t>P(B | A) / P(B)</a:t>
            </a:r>
            <a:endParaRPr lang="en-US" sz="2200" dirty="0"/>
          </a:p>
        </p:txBody>
      </p:sp>
      <p:sp>
        <p:nvSpPr>
          <p:cNvPr id="17" name="Lift text"/>
          <p:cNvSpPr txBox="1"/>
          <p:nvPr/>
        </p:nvSpPr>
        <p:spPr>
          <a:xfrm>
            <a:off x="6199632" y="2514600"/>
            <a:ext cx="2286000" cy="777240"/>
          </a:xfrm>
          <a:prstGeom prst="rect">
            <a:avLst/>
          </a:prstGeom>
          <a:noFill/>
          <a:ln/>
        </p:spPr>
        <p:txBody>
          <a:bodyPr wrap="square" lIns="0" tIns="0" rIns="0" bIns="0" rtlCol="0" anchor="t"/>
          <a:lstStyle/>
          <a:p>
            <a:pPr indent="0" marL="0">
              <a:buNone/>
            </a:pPr>
            <a:r>
              <a:rPr lang="en-US" sz="1400" dirty="0">
                <a:solidFill>
                  <a:schemeClr val="tx1"/>
                </a:solidFill>
              </a:rPr>
              <a:t>How much A changes the chance of B</a:t>
            </a:r>
            <a:endParaRPr lang="en-US" sz="1400" dirty="0"/>
          </a:p>
        </p:txBody>
      </p:sp>
      <p:sp>
        <p:nvSpPr>
          <p:cNvPr id="18" name="Lift panel"/>
          <p:cNvSpPr/>
          <p:nvPr/>
        </p:nvSpPr>
        <p:spPr>
          <a:xfrm>
            <a:off x="548640" y="3611880"/>
            <a:ext cx="8046720" cy="1005840"/>
          </a:xfrm>
          <a:prstGeom prst="roundRect">
            <a:avLst>
              <a:gd name="adj" fmla="val 7273"/>
            </a:avLst>
          </a:prstGeom>
          <a:solidFill>
            <a:schemeClr val="tx2"/>
          </a:solidFill>
          <a:ln w="12700">
            <a:solidFill>
              <a:schemeClr val="tx2"/>
            </a:solidFill>
            <a:prstDash val="solid"/>
          </a:ln>
        </p:spPr>
      </p:sp>
      <p:sp>
        <p:nvSpPr>
          <p:cNvPr id="19" name="Lift text"/>
          <p:cNvSpPr txBox="1"/>
          <p:nvPr/>
        </p:nvSpPr>
        <p:spPr>
          <a:xfrm>
            <a:off x="777240" y="3611880"/>
            <a:ext cx="7589520" cy="1005840"/>
          </a:xfrm>
          <a:prstGeom prst="rect">
            <a:avLst/>
          </a:prstGeom>
          <a:noFill/>
          <a:ln/>
        </p:spPr>
        <p:txBody>
          <a:bodyPr wrap="square" lIns="0" tIns="0" rIns="0" bIns="0" rtlCol="0" anchor="ctr"/>
          <a:lstStyle/>
          <a:p>
            <a:pPr indent="0" marL="0">
              <a:buNone/>
            </a:pPr>
            <a:r>
              <a:rPr lang="en-US" sz="1600" b="1" dirty="0">
                <a:solidFill>
                  <a:schemeClr val="bg1"/>
                </a:solidFill>
              </a:rPr>
              <a:t>Lift above 1: positive association. Lift of 1: independence. Lift below 1: negative association.</a:t>
            </a:r>
            <a:endParaRPr lang="en-US" sz="16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914400"/>
          </a:xfrm>
          <a:prstGeom prst="rect">
            <a:avLst/>
          </a:prstGeom>
          <a:noFill/>
          <a:ln/>
        </p:spPr>
        <p:txBody>
          <a:bodyPr wrap="square" lIns="0" tIns="0" rIns="0" bIns="0" rtlCol="0" anchor="ctr"/>
          <a:lstStyle/>
          <a:p>
            <a:pPr algn="l" indent="0" marL="0">
              <a:buNone/>
            </a:pPr>
            <a:r>
              <a:rPr lang="en-US" sz="3200" b="1" dirty="0">
                <a:solidFill>
                  <a:schemeClr val="tx2"/>
                </a:solidFill>
              </a:rPr>
              <a:t>Estimation and inference</a:t>
            </a:r>
            <a:endParaRPr lang="en-US" sz="3200" dirty="0"/>
          </a:p>
        </p:txBody>
      </p:sp>
      <p:sp>
        <p:nvSpPr>
          <p:cNvPr id="3" name="Likelihood &amp; Bayes card"/>
          <p:cNvSpPr/>
          <p:nvPr/>
        </p:nvSpPr>
        <p:spPr>
          <a:xfrm>
            <a:off x="548640" y="1371600"/>
            <a:ext cx="3931920" cy="1554480"/>
          </a:xfrm>
          <a:prstGeom prst="roundRect">
            <a:avLst>
              <a:gd name="adj" fmla="val 4706"/>
            </a:avLst>
          </a:prstGeom>
          <a:solidFill>
            <a:schemeClr val="bg2"/>
          </a:solidFill>
          <a:ln w="12700">
            <a:solidFill>
              <a:schemeClr val="bg2"/>
            </a:solidFill>
            <a:prstDash val="solid"/>
          </a:ln>
        </p:spPr>
      </p:sp>
      <p:sp>
        <p:nvSpPr>
          <p:cNvPr id="4" name="Likelihood &amp; Bayes circle"/>
          <p:cNvSpPr/>
          <p:nvPr/>
        </p:nvSpPr>
        <p:spPr>
          <a:xfrm>
            <a:off x="713232" y="1536192"/>
            <a:ext cx="475488" cy="475488"/>
          </a:xfrm>
          <a:prstGeom prst="ellipse">
            <a:avLst/>
          </a:prstGeom>
          <a:solidFill>
            <a:schemeClr val="accent3"/>
          </a:solidFill>
          <a:ln w="12700">
            <a:solidFill>
              <a:schemeClr val="accent3"/>
            </a:solidFill>
            <a:prstDash val="solid"/>
          </a:ln>
        </p:spPr>
      </p:sp>
      <p:pic>
        <p:nvPicPr>
          <p:cNvPr id="5" name="Likelihood &amp; Bayes icon" descr="Likelihood &amp; Bayes icon">    </p:cNvPr>
          <p:cNvPicPr>
            <a:picLocks noChangeAspect="1"/>
          </p:cNvPicPr>
          <p:nvPr/>
        </p:nvPicPr>
        <p:blipFill>
          <a:blip r:embed="rId1"/>
          <a:stretch>
            <a:fillRect/>
          </a:stretch>
        </p:blipFill>
        <p:spPr>
          <a:xfrm>
            <a:off x="827349" y="1650309"/>
            <a:ext cx="247254" cy="247254"/>
          </a:xfrm>
          <a:prstGeom prst="rect">
            <a:avLst/>
          </a:prstGeom>
        </p:spPr>
      </p:pic>
      <p:sp>
        <p:nvSpPr>
          <p:cNvPr id="6" name="Likelihood &amp;amp; Bayes title"/>
          <p:cNvSpPr txBox="1"/>
          <p:nvPr/>
        </p:nvSpPr>
        <p:spPr>
          <a:xfrm>
            <a:off x="713232" y="2084832"/>
            <a:ext cx="3657600" cy="310896"/>
          </a:xfrm>
          <a:prstGeom prst="rect">
            <a:avLst/>
          </a:prstGeom>
          <a:noFill/>
          <a:ln/>
        </p:spPr>
        <p:txBody>
          <a:bodyPr wrap="square" lIns="0" tIns="0" rIns="0" bIns="0" rtlCol="0" anchor="ctr"/>
          <a:lstStyle/>
          <a:p>
            <a:pPr indent="0" marL="0">
              <a:buNone/>
            </a:pPr>
            <a:r>
              <a:rPr lang="en-US" sz="1600" b="1" dirty="0">
                <a:solidFill>
                  <a:schemeClr val="tx2"/>
                </a:solidFill>
              </a:rPr>
              <a:t>Likelihood &amp; Bayes</a:t>
            </a:r>
            <a:endParaRPr lang="en-US" sz="1600" dirty="0"/>
          </a:p>
        </p:txBody>
      </p:sp>
      <p:sp>
        <p:nvSpPr>
          <p:cNvPr id="7" name="Likelihood &amp;amp; Bayes text"/>
          <p:cNvSpPr txBox="1"/>
          <p:nvPr/>
        </p:nvSpPr>
        <p:spPr>
          <a:xfrm>
            <a:off x="713232" y="2395728"/>
            <a:ext cx="3657600" cy="457200"/>
          </a:xfrm>
          <a:prstGeom prst="rect">
            <a:avLst/>
          </a:prstGeom>
          <a:noFill/>
          <a:ln/>
        </p:spPr>
        <p:txBody>
          <a:bodyPr wrap="square" lIns="0" tIns="0" rIns="0" bIns="0" rtlCol="0" anchor="t"/>
          <a:lstStyle/>
          <a:p>
            <a:pPr indent="0" marL="0">
              <a:buNone/>
            </a:pPr>
            <a:r>
              <a:rPr lang="en-US" sz="1400" dirty="0">
                <a:solidFill>
                  <a:schemeClr val="tx1"/>
                </a:solidFill>
              </a:rPr>
              <a:t>Fit by maximum likelihood or posterior; regularisation is a prior</a:t>
            </a:r>
            <a:endParaRPr lang="en-US" sz="1400" dirty="0"/>
          </a:p>
        </p:txBody>
      </p:sp>
      <p:sp>
        <p:nvSpPr>
          <p:cNvPr id="8" name="EM algorithm card"/>
          <p:cNvSpPr/>
          <p:nvPr/>
        </p:nvSpPr>
        <p:spPr>
          <a:xfrm>
            <a:off x="4663440" y="1371600"/>
            <a:ext cx="3931920" cy="1554480"/>
          </a:xfrm>
          <a:prstGeom prst="roundRect">
            <a:avLst>
              <a:gd name="adj" fmla="val 4706"/>
            </a:avLst>
          </a:prstGeom>
          <a:solidFill>
            <a:schemeClr val="bg2"/>
          </a:solidFill>
          <a:ln w="12700">
            <a:solidFill>
              <a:schemeClr val="bg2"/>
            </a:solidFill>
            <a:prstDash val="solid"/>
          </a:ln>
        </p:spPr>
      </p:sp>
      <p:sp>
        <p:nvSpPr>
          <p:cNvPr id="9" name="EM algorithm circle"/>
          <p:cNvSpPr/>
          <p:nvPr/>
        </p:nvSpPr>
        <p:spPr>
          <a:xfrm>
            <a:off x="4828032" y="1536192"/>
            <a:ext cx="475488" cy="475488"/>
          </a:xfrm>
          <a:prstGeom prst="ellipse">
            <a:avLst/>
          </a:prstGeom>
          <a:solidFill>
            <a:schemeClr val="accent2"/>
          </a:solidFill>
          <a:ln w="12700">
            <a:solidFill>
              <a:schemeClr val="accent2"/>
            </a:solidFill>
            <a:prstDash val="solid"/>
          </a:ln>
        </p:spPr>
      </p:sp>
      <p:pic>
        <p:nvPicPr>
          <p:cNvPr id="10" name="EM algorithm icon" descr="EM algorithm icon">    </p:cNvPr>
          <p:cNvPicPr>
            <a:picLocks noChangeAspect="1"/>
          </p:cNvPicPr>
          <p:nvPr/>
        </p:nvPicPr>
        <p:blipFill>
          <a:blip r:embed="rId2"/>
          <a:stretch>
            <a:fillRect/>
          </a:stretch>
        </p:blipFill>
        <p:spPr>
          <a:xfrm>
            <a:off x="4942149" y="1650309"/>
            <a:ext cx="247254" cy="247254"/>
          </a:xfrm>
          <a:prstGeom prst="rect">
            <a:avLst/>
          </a:prstGeom>
        </p:spPr>
      </p:pic>
      <p:sp>
        <p:nvSpPr>
          <p:cNvPr id="11" name="EM algorithm title"/>
          <p:cNvSpPr txBox="1"/>
          <p:nvPr/>
        </p:nvSpPr>
        <p:spPr>
          <a:xfrm>
            <a:off x="4828032" y="2084832"/>
            <a:ext cx="3657600" cy="310896"/>
          </a:xfrm>
          <a:prstGeom prst="rect">
            <a:avLst/>
          </a:prstGeom>
          <a:noFill/>
          <a:ln/>
        </p:spPr>
        <p:txBody>
          <a:bodyPr wrap="square" lIns="0" tIns="0" rIns="0" bIns="0" rtlCol="0" anchor="ctr"/>
          <a:lstStyle/>
          <a:p>
            <a:pPr indent="0" marL="0">
              <a:buNone/>
            </a:pPr>
            <a:r>
              <a:rPr lang="en-US" sz="1600" b="1" dirty="0">
                <a:solidFill>
                  <a:schemeClr val="tx2"/>
                </a:solidFill>
              </a:rPr>
              <a:t>EM algorithm</a:t>
            </a:r>
            <a:endParaRPr lang="en-US" sz="1600" dirty="0"/>
          </a:p>
        </p:txBody>
      </p:sp>
      <p:sp>
        <p:nvSpPr>
          <p:cNvPr id="12" name="EM algorithm text"/>
          <p:cNvSpPr txBox="1"/>
          <p:nvPr/>
        </p:nvSpPr>
        <p:spPr>
          <a:xfrm>
            <a:off x="4828032" y="2395728"/>
            <a:ext cx="3657600" cy="457200"/>
          </a:xfrm>
          <a:prstGeom prst="rect">
            <a:avLst/>
          </a:prstGeom>
          <a:noFill/>
          <a:ln/>
        </p:spPr>
        <p:txBody>
          <a:bodyPr wrap="square" lIns="0" tIns="0" rIns="0" bIns="0" rtlCol="0" anchor="t"/>
          <a:lstStyle/>
          <a:p>
            <a:pPr indent="0" marL="0">
              <a:buNone/>
            </a:pPr>
            <a:r>
              <a:rPr lang="en-US" sz="1400" dirty="0">
                <a:solidFill>
                  <a:schemeClr val="tx1"/>
                </a:solidFill>
              </a:rPr>
              <a:t>Models with hidden structure: mixtures, missing data</a:t>
            </a:r>
            <a:endParaRPr lang="en-US" sz="1400" dirty="0"/>
          </a:p>
        </p:txBody>
      </p:sp>
      <p:sp>
        <p:nvSpPr>
          <p:cNvPr id="13" name="Resampling card"/>
          <p:cNvSpPr/>
          <p:nvPr/>
        </p:nvSpPr>
        <p:spPr>
          <a:xfrm>
            <a:off x="548640" y="3063240"/>
            <a:ext cx="3931920" cy="1554480"/>
          </a:xfrm>
          <a:prstGeom prst="roundRect">
            <a:avLst>
              <a:gd name="adj" fmla="val 4706"/>
            </a:avLst>
          </a:prstGeom>
          <a:solidFill>
            <a:schemeClr val="bg2"/>
          </a:solidFill>
          <a:ln w="12700">
            <a:solidFill>
              <a:schemeClr val="bg2"/>
            </a:solidFill>
            <a:prstDash val="solid"/>
          </a:ln>
        </p:spPr>
      </p:sp>
      <p:sp>
        <p:nvSpPr>
          <p:cNvPr id="14" name="Resampling circle"/>
          <p:cNvSpPr/>
          <p:nvPr/>
        </p:nvSpPr>
        <p:spPr>
          <a:xfrm>
            <a:off x="713232" y="3227832"/>
            <a:ext cx="475488" cy="475488"/>
          </a:xfrm>
          <a:prstGeom prst="ellipse">
            <a:avLst/>
          </a:prstGeom>
          <a:solidFill>
            <a:schemeClr val="accent1"/>
          </a:solidFill>
          <a:ln w="12700">
            <a:solidFill>
              <a:schemeClr val="accent1"/>
            </a:solidFill>
            <a:prstDash val="solid"/>
          </a:ln>
        </p:spPr>
      </p:sp>
      <p:pic>
        <p:nvPicPr>
          <p:cNvPr id="15" name="Resampling icon" descr="Resampling icon">    </p:cNvPr>
          <p:cNvPicPr>
            <a:picLocks noChangeAspect="1"/>
          </p:cNvPicPr>
          <p:nvPr/>
        </p:nvPicPr>
        <p:blipFill>
          <a:blip r:embed="rId3"/>
          <a:stretch>
            <a:fillRect/>
          </a:stretch>
        </p:blipFill>
        <p:spPr>
          <a:xfrm>
            <a:off x="827349" y="3341949"/>
            <a:ext cx="247254" cy="247254"/>
          </a:xfrm>
          <a:prstGeom prst="rect">
            <a:avLst/>
          </a:prstGeom>
        </p:spPr>
      </p:pic>
      <p:sp>
        <p:nvSpPr>
          <p:cNvPr id="16" name="Resampling title"/>
          <p:cNvSpPr txBox="1"/>
          <p:nvPr/>
        </p:nvSpPr>
        <p:spPr>
          <a:xfrm>
            <a:off x="713232" y="3776472"/>
            <a:ext cx="3657600" cy="310896"/>
          </a:xfrm>
          <a:prstGeom prst="rect">
            <a:avLst/>
          </a:prstGeom>
          <a:noFill/>
          <a:ln/>
        </p:spPr>
        <p:txBody>
          <a:bodyPr wrap="square" lIns="0" tIns="0" rIns="0" bIns="0" rtlCol="0" anchor="ctr"/>
          <a:lstStyle/>
          <a:p>
            <a:pPr indent="0" marL="0">
              <a:buNone/>
            </a:pPr>
            <a:r>
              <a:rPr lang="en-US" sz="1600" b="1" dirty="0">
                <a:solidFill>
                  <a:schemeClr val="tx2"/>
                </a:solidFill>
              </a:rPr>
              <a:t>Resampling</a:t>
            </a:r>
            <a:endParaRPr lang="en-US" sz="1600" dirty="0"/>
          </a:p>
        </p:txBody>
      </p:sp>
      <p:sp>
        <p:nvSpPr>
          <p:cNvPr id="17" name="Resampling text"/>
          <p:cNvSpPr txBox="1"/>
          <p:nvPr/>
        </p:nvSpPr>
        <p:spPr>
          <a:xfrm>
            <a:off x="713232" y="4087368"/>
            <a:ext cx="3657600" cy="457200"/>
          </a:xfrm>
          <a:prstGeom prst="rect">
            <a:avLst/>
          </a:prstGeom>
          <a:noFill/>
          <a:ln/>
        </p:spPr>
        <p:txBody>
          <a:bodyPr wrap="square" lIns="0" tIns="0" rIns="0" bIns="0" rtlCol="0" anchor="t"/>
          <a:lstStyle/>
          <a:p>
            <a:pPr indent="0" marL="0">
              <a:buNone/>
            </a:pPr>
            <a:r>
              <a:rPr lang="en-US" sz="1400" dirty="0">
                <a:solidFill>
                  <a:schemeClr val="tx1"/>
                </a:solidFill>
              </a:rPr>
              <a:t>Bootstrap and cross-validation estimate error and uncertainty</a:t>
            </a:r>
            <a:endParaRPr lang="en-US" sz="1400" dirty="0"/>
          </a:p>
        </p:txBody>
      </p:sp>
      <p:sp>
        <p:nvSpPr>
          <p:cNvPr id="18" name="Multiple testing card"/>
          <p:cNvSpPr/>
          <p:nvPr/>
        </p:nvSpPr>
        <p:spPr>
          <a:xfrm>
            <a:off x="4663440" y="3063240"/>
            <a:ext cx="3931920" cy="1554480"/>
          </a:xfrm>
          <a:prstGeom prst="roundRect">
            <a:avLst>
              <a:gd name="adj" fmla="val 4706"/>
            </a:avLst>
          </a:prstGeom>
          <a:solidFill>
            <a:schemeClr val="bg2"/>
          </a:solidFill>
          <a:ln w="12700">
            <a:solidFill>
              <a:schemeClr val="bg2"/>
            </a:solidFill>
            <a:prstDash val="solid"/>
          </a:ln>
        </p:spPr>
      </p:sp>
      <p:sp>
        <p:nvSpPr>
          <p:cNvPr id="19" name="Multiple testing circle"/>
          <p:cNvSpPr/>
          <p:nvPr/>
        </p:nvSpPr>
        <p:spPr>
          <a:xfrm>
            <a:off x="4828032" y="3227832"/>
            <a:ext cx="475488" cy="475488"/>
          </a:xfrm>
          <a:prstGeom prst="ellipse">
            <a:avLst/>
          </a:prstGeom>
          <a:solidFill>
            <a:schemeClr val="accent4"/>
          </a:solidFill>
          <a:ln w="12700">
            <a:solidFill>
              <a:schemeClr val="accent4"/>
            </a:solidFill>
            <a:prstDash val="solid"/>
          </a:ln>
        </p:spPr>
      </p:sp>
      <p:pic>
        <p:nvPicPr>
          <p:cNvPr id="20" name="Multiple testing icon" descr="Multiple testing icon">    </p:cNvPr>
          <p:cNvPicPr>
            <a:picLocks noChangeAspect="1"/>
          </p:cNvPicPr>
          <p:nvPr/>
        </p:nvPicPr>
        <p:blipFill>
          <a:blip r:embed="rId4"/>
          <a:stretch>
            <a:fillRect/>
          </a:stretch>
        </p:blipFill>
        <p:spPr>
          <a:xfrm>
            <a:off x="4942149" y="3341949"/>
            <a:ext cx="247254" cy="247254"/>
          </a:xfrm>
          <a:prstGeom prst="rect">
            <a:avLst/>
          </a:prstGeom>
        </p:spPr>
      </p:pic>
      <p:sp>
        <p:nvSpPr>
          <p:cNvPr id="21" name="Multiple testing title"/>
          <p:cNvSpPr txBox="1"/>
          <p:nvPr/>
        </p:nvSpPr>
        <p:spPr>
          <a:xfrm>
            <a:off x="4828032" y="3776472"/>
            <a:ext cx="3657600" cy="310896"/>
          </a:xfrm>
          <a:prstGeom prst="rect">
            <a:avLst/>
          </a:prstGeom>
          <a:noFill/>
          <a:ln/>
        </p:spPr>
        <p:txBody>
          <a:bodyPr wrap="square" lIns="0" tIns="0" rIns="0" bIns="0" rtlCol="0" anchor="ctr"/>
          <a:lstStyle/>
          <a:p>
            <a:pPr indent="0" marL="0">
              <a:buNone/>
            </a:pPr>
            <a:r>
              <a:rPr lang="en-US" sz="1600" b="1" dirty="0">
                <a:solidFill>
                  <a:schemeClr val="tx2"/>
                </a:solidFill>
              </a:rPr>
              <a:t>Multiple testing</a:t>
            </a:r>
            <a:endParaRPr lang="en-US" sz="1600" dirty="0"/>
          </a:p>
        </p:txBody>
      </p:sp>
      <p:sp>
        <p:nvSpPr>
          <p:cNvPr id="22" name="Multiple testing text"/>
          <p:cNvSpPr txBox="1"/>
          <p:nvPr/>
        </p:nvSpPr>
        <p:spPr>
          <a:xfrm>
            <a:off x="4828032" y="4087368"/>
            <a:ext cx="3657600" cy="457200"/>
          </a:xfrm>
          <a:prstGeom prst="rect">
            <a:avLst/>
          </a:prstGeom>
          <a:noFill/>
          <a:ln/>
        </p:spPr>
        <p:txBody>
          <a:bodyPr wrap="square" lIns="0" tIns="0" rIns="0" bIns="0" rtlCol="0" anchor="t"/>
          <a:lstStyle/>
          <a:p>
            <a:pPr indent="0" marL="0">
              <a:buNone/>
            </a:pPr>
            <a:r>
              <a:rPr lang="en-US" sz="1400" dirty="0">
                <a:solidFill>
                  <a:schemeClr val="tx1"/>
                </a:solidFill>
              </a:rPr>
              <a:t>Mining many patterns demands FDR or Bonferroni control</a:t>
            </a:r>
            <a:endParaRPr lang="en-US" sz="14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914400"/>
          </a:xfrm>
          <a:prstGeom prst="rect">
            <a:avLst/>
          </a:prstGeom>
          <a:noFill/>
          <a:ln/>
        </p:spPr>
        <p:txBody>
          <a:bodyPr wrap="square" lIns="0" tIns="0" rIns="0" bIns="0" rtlCol="0" anchor="ctr"/>
          <a:lstStyle/>
          <a:p>
            <a:pPr algn="l" indent="0" marL="0">
              <a:buNone/>
            </a:pPr>
            <a:r>
              <a:rPr lang="en-US" sz="3200" b="1" dirty="0">
                <a:solidFill>
                  <a:schemeClr val="tx2"/>
                </a:solidFill>
              </a:rPr>
              <a:t>Evaluating models</a:t>
            </a:r>
            <a:endParaRPr lang="en-US" sz="3200" dirty="0"/>
          </a:p>
        </p:txBody>
      </p:sp>
      <p:sp>
        <p:nvSpPr>
          <p:cNvPr id="3" name="AUC card"/>
          <p:cNvSpPr/>
          <p:nvPr/>
        </p:nvSpPr>
        <p:spPr>
          <a:xfrm>
            <a:off x="548640" y="1371600"/>
            <a:ext cx="3931920" cy="1554480"/>
          </a:xfrm>
          <a:prstGeom prst="roundRect">
            <a:avLst>
              <a:gd name="adj" fmla="val 4706"/>
            </a:avLst>
          </a:prstGeom>
          <a:solidFill>
            <a:schemeClr val="bg2"/>
          </a:solidFill>
          <a:ln w="12700">
            <a:solidFill>
              <a:schemeClr val="bg2"/>
            </a:solidFill>
            <a:prstDash val="solid"/>
          </a:ln>
        </p:spPr>
      </p:sp>
      <p:sp>
        <p:nvSpPr>
          <p:cNvPr id="4" name="AUC circle"/>
          <p:cNvSpPr/>
          <p:nvPr/>
        </p:nvSpPr>
        <p:spPr>
          <a:xfrm>
            <a:off x="713232" y="1536192"/>
            <a:ext cx="475488" cy="475488"/>
          </a:xfrm>
          <a:prstGeom prst="ellipse">
            <a:avLst/>
          </a:prstGeom>
          <a:solidFill>
            <a:schemeClr val="accent2"/>
          </a:solidFill>
          <a:ln w="12700">
            <a:solidFill>
              <a:schemeClr val="accent2"/>
            </a:solidFill>
            <a:prstDash val="solid"/>
          </a:ln>
        </p:spPr>
      </p:sp>
      <p:pic>
        <p:nvPicPr>
          <p:cNvPr id="5" name="AUC icon" descr="AUC icon">    </p:cNvPr>
          <p:cNvPicPr>
            <a:picLocks noChangeAspect="1"/>
          </p:cNvPicPr>
          <p:nvPr/>
        </p:nvPicPr>
        <p:blipFill>
          <a:blip r:embed="rId1"/>
          <a:stretch>
            <a:fillRect/>
          </a:stretch>
        </p:blipFill>
        <p:spPr>
          <a:xfrm>
            <a:off x="827349" y="1650309"/>
            <a:ext cx="247254" cy="247254"/>
          </a:xfrm>
          <a:prstGeom prst="rect">
            <a:avLst/>
          </a:prstGeom>
        </p:spPr>
      </p:pic>
      <p:sp>
        <p:nvSpPr>
          <p:cNvPr id="6" name="AUC title"/>
          <p:cNvSpPr txBox="1"/>
          <p:nvPr/>
        </p:nvSpPr>
        <p:spPr>
          <a:xfrm>
            <a:off x="713232" y="2084832"/>
            <a:ext cx="3657600" cy="310896"/>
          </a:xfrm>
          <a:prstGeom prst="rect">
            <a:avLst/>
          </a:prstGeom>
          <a:noFill/>
          <a:ln/>
        </p:spPr>
        <p:txBody>
          <a:bodyPr wrap="square" lIns="0" tIns="0" rIns="0" bIns="0" rtlCol="0" anchor="ctr"/>
          <a:lstStyle/>
          <a:p>
            <a:pPr indent="0" marL="0">
              <a:buNone/>
            </a:pPr>
            <a:r>
              <a:rPr lang="en-US" sz="1600" b="1" dirty="0">
                <a:solidFill>
                  <a:schemeClr val="tx2"/>
                </a:solidFill>
              </a:rPr>
              <a:t>AUC</a:t>
            </a:r>
            <a:endParaRPr lang="en-US" sz="1600" dirty="0"/>
          </a:p>
        </p:txBody>
      </p:sp>
      <p:sp>
        <p:nvSpPr>
          <p:cNvPr id="7" name="AUC text"/>
          <p:cNvSpPr txBox="1"/>
          <p:nvPr/>
        </p:nvSpPr>
        <p:spPr>
          <a:xfrm>
            <a:off x="713232" y="2395728"/>
            <a:ext cx="3657600" cy="457200"/>
          </a:xfrm>
          <a:prstGeom prst="rect">
            <a:avLst/>
          </a:prstGeom>
          <a:noFill/>
          <a:ln/>
        </p:spPr>
        <p:txBody>
          <a:bodyPr wrap="square" lIns="0" tIns="0" rIns="0" bIns="0" rtlCol="0" anchor="t"/>
          <a:lstStyle/>
          <a:p>
            <a:pPr indent="0" marL="0">
              <a:buNone/>
            </a:pPr>
            <a:r>
              <a:rPr lang="en-US" sz="1400" dirty="0">
                <a:solidFill>
                  <a:schemeClr val="tx1"/>
                </a:solidFill>
              </a:rPr>
              <a:t>The chance a random positive scores above a random negative</a:t>
            </a:r>
            <a:endParaRPr lang="en-US" sz="1400" dirty="0"/>
          </a:p>
        </p:txBody>
      </p:sp>
      <p:sp>
        <p:nvSpPr>
          <p:cNvPr id="8" name="Calibration card"/>
          <p:cNvSpPr/>
          <p:nvPr/>
        </p:nvSpPr>
        <p:spPr>
          <a:xfrm>
            <a:off x="4663440" y="1371600"/>
            <a:ext cx="3931920" cy="1554480"/>
          </a:xfrm>
          <a:prstGeom prst="roundRect">
            <a:avLst>
              <a:gd name="adj" fmla="val 4706"/>
            </a:avLst>
          </a:prstGeom>
          <a:solidFill>
            <a:schemeClr val="bg2"/>
          </a:solidFill>
          <a:ln w="12700">
            <a:solidFill>
              <a:schemeClr val="bg2"/>
            </a:solidFill>
            <a:prstDash val="solid"/>
          </a:ln>
        </p:spPr>
      </p:sp>
      <p:sp>
        <p:nvSpPr>
          <p:cNvPr id="9" name="Calibration circle"/>
          <p:cNvSpPr/>
          <p:nvPr/>
        </p:nvSpPr>
        <p:spPr>
          <a:xfrm>
            <a:off x="4828032" y="1536192"/>
            <a:ext cx="475488" cy="475488"/>
          </a:xfrm>
          <a:prstGeom prst="ellipse">
            <a:avLst/>
          </a:prstGeom>
          <a:solidFill>
            <a:schemeClr val="accent3"/>
          </a:solidFill>
          <a:ln w="12700">
            <a:solidFill>
              <a:schemeClr val="accent3"/>
            </a:solidFill>
            <a:prstDash val="solid"/>
          </a:ln>
        </p:spPr>
      </p:sp>
      <p:pic>
        <p:nvPicPr>
          <p:cNvPr id="10" name="Calibration icon" descr="Calibration icon">    </p:cNvPr>
          <p:cNvPicPr>
            <a:picLocks noChangeAspect="1"/>
          </p:cNvPicPr>
          <p:nvPr/>
        </p:nvPicPr>
        <p:blipFill>
          <a:blip r:embed="rId2"/>
          <a:stretch>
            <a:fillRect/>
          </a:stretch>
        </p:blipFill>
        <p:spPr>
          <a:xfrm>
            <a:off x="4942149" y="1650309"/>
            <a:ext cx="247254" cy="247254"/>
          </a:xfrm>
          <a:prstGeom prst="rect">
            <a:avLst/>
          </a:prstGeom>
        </p:spPr>
      </p:pic>
      <p:sp>
        <p:nvSpPr>
          <p:cNvPr id="11" name="Calibration title"/>
          <p:cNvSpPr txBox="1"/>
          <p:nvPr/>
        </p:nvSpPr>
        <p:spPr>
          <a:xfrm>
            <a:off x="4828032" y="2084832"/>
            <a:ext cx="3657600" cy="310896"/>
          </a:xfrm>
          <a:prstGeom prst="rect">
            <a:avLst/>
          </a:prstGeom>
          <a:noFill/>
          <a:ln/>
        </p:spPr>
        <p:txBody>
          <a:bodyPr wrap="square" lIns="0" tIns="0" rIns="0" bIns="0" rtlCol="0" anchor="ctr"/>
          <a:lstStyle/>
          <a:p>
            <a:pPr indent="0" marL="0">
              <a:buNone/>
            </a:pPr>
            <a:r>
              <a:rPr lang="en-US" sz="1600" b="1" dirty="0">
                <a:solidFill>
                  <a:schemeClr val="tx2"/>
                </a:solidFill>
              </a:rPr>
              <a:t>Calibration</a:t>
            </a:r>
            <a:endParaRPr lang="en-US" sz="1600" dirty="0"/>
          </a:p>
        </p:txBody>
      </p:sp>
      <p:sp>
        <p:nvSpPr>
          <p:cNvPr id="12" name="Calibration text"/>
          <p:cNvSpPr txBox="1"/>
          <p:nvPr/>
        </p:nvSpPr>
        <p:spPr>
          <a:xfrm>
            <a:off x="4828032" y="2395728"/>
            <a:ext cx="3657600" cy="457200"/>
          </a:xfrm>
          <a:prstGeom prst="rect">
            <a:avLst/>
          </a:prstGeom>
          <a:noFill/>
          <a:ln/>
        </p:spPr>
        <p:txBody>
          <a:bodyPr wrap="square" lIns="0" tIns="0" rIns="0" bIns="0" rtlCol="0" anchor="t"/>
          <a:lstStyle/>
          <a:p>
            <a:pPr indent="0" marL="0">
              <a:buNone/>
            </a:pPr>
            <a:r>
              <a:rPr lang="en-US" sz="1400" dirty="0">
                <a:solidFill>
                  <a:schemeClr val="tx1"/>
                </a:solidFill>
              </a:rPr>
              <a:t>Does a predicted 70% happen about 70% of the time?</a:t>
            </a:r>
            <a:endParaRPr lang="en-US" sz="1400" dirty="0"/>
          </a:p>
        </p:txBody>
      </p:sp>
      <p:sp>
        <p:nvSpPr>
          <p:cNvPr id="13" name="Base rates card"/>
          <p:cNvSpPr/>
          <p:nvPr/>
        </p:nvSpPr>
        <p:spPr>
          <a:xfrm>
            <a:off x="548640" y="3063240"/>
            <a:ext cx="3931920" cy="1554480"/>
          </a:xfrm>
          <a:prstGeom prst="roundRect">
            <a:avLst>
              <a:gd name="adj" fmla="val 4706"/>
            </a:avLst>
          </a:prstGeom>
          <a:solidFill>
            <a:schemeClr val="bg2"/>
          </a:solidFill>
          <a:ln w="12700">
            <a:solidFill>
              <a:schemeClr val="bg2"/>
            </a:solidFill>
            <a:prstDash val="solid"/>
          </a:ln>
        </p:spPr>
      </p:sp>
      <p:sp>
        <p:nvSpPr>
          <p:cNvPr id="14" name="Base rates circle"/>
          <p:cNvSpPr/>
          <p:nvPr/>
        </p:nvSpPr>
        <p:spPr>
          <a:xfrm>
            <a:off x="713232" y="3227832"/>
            <a:ext cx="475488" cy="475488"/>
          </a:xfrm>
          <a:prstGeom prst="ellipse">
            <a:avLst/>
          </a:prstGeom>
          <a:solidFill>
            <a:schemeClr val="accent4"/>
          </a:solidFill>
          <a:ln w="12700">
            <a:solidFill>
              <a:schemeClr val="accent4"/>
            </a:solidFill>
            <a:prstDash val="solid"/>
          </a:ln>
        </p:spPr>
      </p:sp>
      <p:pic>
        <p:nvPicPr>
          <p:cNvPr id="15" name="Base rates icon" descr="Base rates icon">    </p:cNvPr>
          <p:cNvPicPr>
            <a:picLocks noChangeAspect="1"/>
          </p:cNvPicPr>
          <p:nvPr/>
        </p:nvPicPr>
        <p:blipFill>
          <a:blip r:embed="rId3"/>
          <a:stretch>
            <a:fillRect/>
          </a:stretch>
        </p:blipFill>
        <p:spPr>
          <a:xfrm>
            <a:off x="827349" y="3341949"/>
            <a:ext cx="247254" cy="247254"/>
          </a:xfrm>
          <a:prstGeom prst="rect">
            <a:avLst/>
          </a:prstGeom>
        </p:spPr>
      </p:pic>
      <p:sp>
        <p:nvSpPr>
          <p:cNvPr id="16" name="Base rates title"/>
          <p:cNvSpPr txBox="1"/>
          <p:nvPr/>
        </p:nvSpPr>
        <p:spPr>
          <a:xfrm>
            <a:off x="713232" y="3776472"/>
            <a:ext cx="3657600" cy="310896"/>
          </a:xfrm>
          <a:prstGeom prst="rect">
            <a:avLst/>
          </a:prstGeom>
          <a:noFill/>
          <a:ln/>
        </p:spPr>
        <p:txBody>
          <a:bodyPr wrap="square" lIns="0" tIns="0" rIns="0" bIns="0" rtlCol="0" anchor="ctr"/>
          <a:lstStyle/>
          <a:p>
            <a:pPr indent="0" marL="0">
              <a:buNone/>
            </a:pPr>
            <a:r>
              <a:rPr lang="en-US" sz="1600" b="1" dirty="0">
                <a:solidFill>
                  <a:schemeClr val="tx2"/>
                </a:solidFill>
              </a:rPr>
              <a:t>Base rates</a:t>
            </a:r>
            <a:endParaRPr lang="en-US" sz="1600" dirty="0"/>
          </a:p>
        </p:txBody>
      </p:sp>
      <p:sp>
        <p:nvSpPr>
          <p:cNvPr id="17" name="Base rates text"/>
          <p:cNvSpPr txBox="1"/>
          <p:nvPr/>
        </p:nvSpPr>
        <p:spPr>
          <a:xfrm>
            <a:off x="713232" y="4087368"/>
            <a:ext cx="3657600" cy="457200"/>
          </a:xfrm>
          <a:prstGeom prst="rect">
            <a:avLst/>
          </a:prstGeom>
          <a:noFill/>
          <a:ln/>
        </p:spPr>
        <p:txBody>
          <a:bodyPr wrap="square" lIns="0" tIns="0" rIns="0" bIns="0" rtlCol="0" anchor="t"/>
          <a:lstStyle/>
          <a:p>
            <a:pPr indent="0" marL="0">
              <a:buNone/>
            </a:pPr>
            <a:r>
              <a:rPr lang="en-US" sz="1400" dirty="0">
                <a:solidFill>
                  <a:schemeClr val="tx1"/>
                </a:solidFill>
              </a:rPr>
              <a:t>With rare events, high accuracy can still mislead</a:t>
            </a:r>
            <a:endParaRPr lang="en-US" sz="1400" dirty="0"/>
          </a:p>
        </p:txBody>
      </p:sp>
      <p:sp>
        <p:nvSpPr>
          <p:cNvPr id="18" name="Generalisation card"/>
          <p:cNvSpPr/>
          <p:nvPr/>
        </p:nvSpPr>
        <p:spPr>
          <a:xfrm>
            <a:off x="4663440" y="3063240"/>
            <a:ext cx="3931920" cy="1554480"/>
          </a:xfrm>
          <a:prstGeom prst="roundRect">
            <a:avLst>
              <a:gd name="adj" fmla="val 4706"/>
            </a:avLst>
          </a:prstGeom>
          <a:solidFill>
            <a:schemeClr val="bg2"/>
          </a:solidFill>
          <a:ln w="12700">
            <a:solidFill>
              <a:schemeClr val="bg2"/>
            </a:solidFill>
            <a:prstDash val="solid"/>
          </a:ln>
        </p:spPr>
      </p:sp>
      <p:sp>
        <p:nvSpPr>
          <p:cNvPr id="19" name="Generalisation circle"/>
          <p:cNvSpPr/>
          <p:nvPr/>
        </p:nvSpPr>
        <p:spPr>
          <a:xfrm>
            <a:off x="4828032" y="3227832"/>
            <a:ext cx="475488" cy="475488"/>
          </a:xfrm>
          <a:prstGeom prst="ellipse">
            <a:avLst/>
          </a:prstGeom>
          <a:solidFill>
            <a:schemeClr val="accent6"/>
          </a:solidFill>
          <a:ln w="12700">
            <a:solidFill>
              <a:schemeClr val="accent6"/>
            </a:solidFill>
            <a:prstDash val="solid"/>
          </a:ln>
        </p:spPr>
      </p:sp>
      <p:pic>
        <p:nvPicPr>
          <p:cNvPr id="20" name="Generalisation icon" descr="Generalisation icon">    </p:cNvPr>
          <p:cNvPicPr>
            <a:picLocks noChangeAspect="1"/>
          </p:cNvPicPr>
          <p:nvPr/>
        </p:nvPicPr>
        <p:blipFill>
          <a:blip r:embed="rId4"/>
          <a:stretch>
            <a:fillRect/>
          </a:stretch>
        </p:blipFill>
        <p:spPr>
          <a:xfrm>
            <a:off x="4942149" y="3341949"/>
            <a:ext cx="247254" cy="247254"/>
          </a:xfrm>
          <a:prstGeom prst="rect">
            <a:avLst/>
          </a:prstGeom>
        </p:spPr>
      </p:pic>
      <p:sp>
        <p:nvSpPr>
          <p:cNvPr id="21" name="Generalisation title"/>
          <p:cNvSpPr txBox="1"/>
          <p:nvPr/>
        </p:nvSpPr>
        <p:spPr>
          <a:xfrm>
            <a:off x="4828032" y="3776472"/>
            <a:ext cx="3657600" cy="310896"/>
          </a:xfrm>
          <a:prstGeom prst="rect">
            <a:avLst/>
          </a:prstGeom>
          <a:noFill/>
          <a:ln/>
        </p:spPr>
        <p:txBody>
          <a:bodyPr wrap="square" lIns="0" tIns="0" rIns="0" bIns="0" rtlCol="0" anchor="ctr"/>
          <a:lstStyle/>
          <a:p>
            <a:pPr indent="0" marL="0">
              <a:buNone/>
            </a:pPr>
            <a:r>
              <a:rPr lang="en-US" sz="1600" b="1" dirty="0">
                <a:solidFill>
                  <a:schemeClr val="tx2"/>
                </a:solidFill>
              </a:rPr>
              <a:t>Generalisation</a:t>
            </a:r>
            <a:endParaRPr lang="en-US" sz="1600" dirty="0"/>
          </a:p>
        </p:txBody>
      </p:sp>
      <p:sp>
        <p:nvSpPr>
          <p:cNvPr id="22" name="Generalisation text"/>
          <p:cNvSpPr txBox="1"/>
          <p:nvPr/>
        </p:nvSpPr>
        <p:spPr>
          <a:xfrm>
            <a:off x="4828032" y="4087368"/>
            <a:ext cx="3657600" cy="457200"/>
          </a:xfrm>
          <a:prstGeom prst="rect">
            <a:avLst/>
          </a:prstGeom>
          <a:noFill/>
          <a:ln/>
        </p:spPr>
        <p:txBody>
          <a:bodyPr wrap="square" lIns="0" tIns="0" rIns="0" bIns="0" rtlCol="0" anchor="t"/>
          <a:lstStyle/>
          <a:p>
            <a:pPr indent="0" marL="0">
              <a:buNone/>
            </a:pPr>
            <a:r>
              <a:rPr lang="en-US" sz="1400" dirty="0">
                <a:solidFill>
                  <a:schemeClr val="tx1"/>
                </a:solidFill>
              </a:rPr>
              <a:t>The gap between training and test error is a variance story</a:t>
            </a:r>
            <a:endParaRPr lang="en-US" sz="14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914400"/>
          </a:xfrm>
          <a:prstGeom prst="rect">
            <a:avLst/>
          </a:prstGeom>
          <a:noFill/>
          <a:ln/>
        </p:spPr>
        <p:txBody>
          <a:bodyPr wrap="square" lIns="0" tIns="0" rIns="0" bIns="0" rtlCol="0" anchor="ctr"/>
          <a:lstStyle/>
          <a:p>
            <a:pPr algn="l" indent="0" marL="0">
              <a:buNone/>
            </a:pPr>
            <a:r>
              <a:rPr lang="en-US" sz="3200" b="1" dirty="0">
                <a:solidFill>
                  <a:schemeClr val="tx2"/>
                </a:solidFill>
              </a:rPr>
              <a:t>Base rates: a worked example</a:t>
            </a:r>
            <a:endParaRPr lang="en-US" sz="3200" dirty="0"/>
          </a:p>
        </p:txBody>
      </p:sp>
      <p:graphicFrame>
        <p:nvGraphicFramePr>
          <p:cNvPr id="3" name="Flagged people chart" descr=""/>
          <p:cNvGraphicFramePr/>
          <p:nvPr/>
        </p:nvGraphicFramePr>
        <p:xfrm>
          <a:off x="548640" y="132588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4" name="Assumptions card"/>
          <p:cNvSpPr/>
          <p:nvPr/>
        </p:nvSpPr>
        <p:spPr>
          <a:xfrm>
            <a:off x="5349240" y="1371600"/>
            <a:ext cx="3246120" cy="1417320"/>
          </a:xfrm>
          <a:prstGeom prst="roundRect">
            <a:avLst>
              <a:gd name="adj" fmla="val 5161"/>
            </a:avLst>
          </a:prstGeom>
          <a:solidFill>
            <a:schemeClr val="bg2"/>
          </a:solidFill>
          <a:ln w="12700">
            <a:solidFill>
              <a:schemeClr val="bg2"/>
            </a:solidFill>
            <a:prstDash val="solid"/>
          </a:ln>
        </p:spPr>
      </p:sp>
      <p:sp>
        <p:nvSpPr>
          <p:cNvPr id="5" name="Assumptions text"/>
          <p:cNvSpPr txBox="1"/>
          <p:nvPr/>
        </p:nvSpPr>
        <p:spPr>
          <a:xfrm>
            <a:off x="5486400" y="1417320"/>
            <a:ext cx="3017520" cy="1325880"/>
          </a:xfrm>
          <a:prstGeom prst="rect">
            <a:avLst/>
          </a:prstGeom>
          <a:noFill/>
          <a:ln/>
        </p:spPr>
        <p:txBody>
          <a:bodyPr wrap="square" lIns="0" tIns="0" rIns="0" bIns="0" rtlCol="0" anchor="ctr"/>
          <a:lstStyle/>
          <a:p>
            <a:pPr indent="0" marL="0">
              <a:buNone/>
            </a:pPr>
            <a:r>
              <a:rPr lang="en-US" sz="1400" b="1" dirty="0">
                <a:solidFill>
                  <a:schemeClr val="tx2"/>
                </a:solidFill>
              </a:rPr>
              <a:t>Assumptions</a:t>
            </a:r>
            <a:endParaRPr lang="en-US" sz="1400" dirty="0"/>
          </a:p>
          <a:p>
            <a:pPr indent="0" marL="0">
              <a:buNone/>
            </a:pPr>
            <a:r>
              <a:rPr lang="en-US" sz="1400" dirty="0">
                <a:solidFill>
                  <a:schemeClr val="tx1"/>
                </a:solidFill>
              </a:rPr>
              <a:t>Prevalence 1%, sensitivity 95%, false-positive rate 5%</a:t>
            </a:r>
            <a:endParaRPr lang="en-US" sz="1400" dirty="0"/>
          </a:p>
        </p:txBody>
      </p:sp>
      <p:sp>
        <p:nvSpPr>
          <p:cNvPr id="6" name="Result card"/>
          <p:cNvSpPr/>
          <p:nvPr/>
        </p:nvSpPr>
        <p:spPr>
          <a:xfrm>
            <a:off x="5349240" y="2926080"/>
            <a:ext cx="3246120" cy="1691640"/>
          </a:xfrm>
          <a:prstGeom prst="roundRect">
            <a:avLst>
              <a:gd name="adj" fmla="val 4324"/>
            </a:avLst>
          </a:prstGeom>
          <a:solidFill>
            <a:schemeClr val="tx2"/>
          </a:solidFill>
          <a:ln w="12700">
            <a:solidFill>
              <a:schemeClr val="tx2"/>
            </a:solidFill>
            <a:prstDash val="solid"/>
          </a:ln>
        </p:spPr>
      </p:sp>
      <p:sp>
        <p:nvSpPr>
          <p:cNvPr id="7" name="Result text"/>
          <p:cNvSpPr txBox="1"/>
          <p:nvPr/>
        </p:nvSpPr>
        <p:spPr>
          <a:xfrm>
            <a:off x="5486400" y="2971800"/>
            <a:ext cx="3017520" cy="1600200"/>
          </a:xfrm>
          <a:prstGeom prst="rect">
            <a:avLst/>
          </a:prstGeom>
          <a:noFill/>
          <a:ln/>
        </p:spPr>
        <p:txBody>
          <a:bodyPr wrap="square" lIns="0" tIns="0" rIns="0" bIns="0" rtlCol="0" anchor="ctr"/>
          <a:lstStyle/>
          <a:p>
            <a:pPr indent="0" marL="0">
              <a:buNone/>
            </a:pPr>
            <a:r>
              <a:rPr lang="en-US" sz="4000" b="1" dirty="0">
                <a:solidFill>
                  <a:srgbClr val="F2A541"/>
                </a:solidFill>
              </a:rPr>
              <a:t>16%</a:t>
            </a:r>
            <a:endParaRPr lang="en-US" sz="4000" dirty="0"/>
          </a:p>
          <a:p>
            <a:pPr indent="0" marL="0">
              <a:buNone/>
            </a:pPr>
            <a:r>
              <a:rPr lang="en-US" sz="1400" dirty="0">
                <a:solidFill>
                  <a:srgbClr val="FFFFFF"/>
                </a:solidFill>
              </a:rPr>
              <a:t>of flagged people are truly positive: 95 of 590</a:t>
            </a:r>
            <a:endParaRPr lang="en-US" sz="40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914400"/>
          </a:xfrm>
          <a:prstGeom prst="rect">
            <a:avLst/>
          </a:prstGeom>
          <a:noFill/>
          <a:ln/>
        </p:spPr>
        <p:txBody>
          <a:bodyPr wrap="square" lIns="0" tIns="0" rIns="0" bIns="0" rtlCol="0" anchor="ctr"/>
          <a:lstStyle/>
          <a:p>
            <a:pPr algn="l" indent="0" marL="0">
              <a:buNone/>
            </a:pPr>
            <a:r>
              <a:rPr lang="en-US" sz="3200" b="1" dirty="0">
                <a:solidFill>
                  <a:schemeClr val="tx2"/>
                </a:solidFill>
              </a:rPr>
              <a:t>Pitfalls to keep in mind</a:t>
            </a:r>
            <a:endParaRPr lang="en-US" sz="3200" dirty="0"/>
          </a:p>
        </p:txBody>
      </p:sp>
      <p:sp>
        <p:nvSpPr>
          <p:cNvPr id="3" name="Pitfall 1 row"/>
          <p:cNvSpPr/>
          <p:nvPr/>
        </p:nvSpPr>
        <p:spPr>
          <a:xfrm>
            <a:off x="548640" y="1325880"/>
            <a:ext cx="8046720" cy="475488"/>
          </a:xfrm>
          <a:prstGeom prst="roundRect">
            <a:avLst>
              <a:gd name="adj" fmla="val 15385"/>
            </a:avLst>
          </a:prstGeom>
          <a:solidFill>
            <a:schemeClr val="bg2"/>
          </a:solidFill>
          <a:ln w="12700">
            <a:solidFill>
              <a:schemeClr val="bg2"/>
            </a:solidFill>
            <a:prstDash val="solid"/>
          </a:ln>
        </p:spPr>
      </p:sp>
      <p:sp>
        <p:nvSpPr>
          <p:cNvPr id="4" name="Pitfall 1 circle"/>
          <p:cNvSpPr/>
          <p:nvPr/>
        </p:nvSpPr>
        <p:spPr>
          <a:xfrm>
            <a:off x="658368" y="1380744"/>
            <a:ext cx="365760" cy="365760"/>
          </a:xfrm>
          <a:prstGeom prst="ellipse">
            <a:avLst/>
          </a:prstGeom>
          <a:solidFill>
            <a:schemeClr val="accent4"/>
          </a:solidFill>
          <a:ln w="12700">
            <a:solidFill>
              <a:schemeClr val="accent4"/>
            </a:solidFill>
            <a:prstDash val="solid"/>
          </a:ln>
        </p:spPr>
      </p:sp>
      <p:sp>
        <p:nvSpPr>
          <p:cNvPr id="5" name="Pitfall 1 number"/>
          <p:cNvSpPr txBox="1"/>
          <p:nvPr/>
        </p:nvSpPr>
        <p:spPr>
          <a:xfrm>
            <a:off x="658368" y="138074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Pitfall 1 text"/>
          <p:cNvSpPr txBox="1"/>
          <p:nvPr/>
        </p:nvSpPr>
        <p:spPr>
          <a:xfrm>
            <a:off x="1188720" y="1325880"/>
            <a:ext cx="7315200" cy="475488"/>
          </a:xfrm>
          <a:prstGeom prst="rect">
            <a:avLst/>
          </a:prstGeom>
          <a:noFill/>
          <a:ln/>
        </p:spPr>
        <p:txBody>
          <a:bodyPr wrap="square" lIns="0" tIns="0" rIns="0" bIns="0" rtlCol="0" anchor="ctr"/>
          <a:lstStyle/>
          <a:p>
            <a:pPr indent="0" marL="0">
              <a:buNone/>
            </a:pPr>
            <a:r>
              <a:rPr lang="en-US" sz="1500" dirty="0">
                <a:solidFill>
                  <a:schemeClr val="tx1"/>
                </a:solidFill>
              </a:rPr>
              <a:t>Treating the naive independence assumption as true</a:t>
            </a:r>
            <a:endParaRPr lang="en-US" sz="1500" dirty="0"/>
          </a:p>
        </p:txBody>
      </p:sp>
      <p:sp>
        <p:nvSpPr>
          <p:cNvPr id="7" name="Pitfall 2 row"/>
          <p:cNvSpPr/>
          <p:nvPr/>
        </p:nvSpPr>
        <p:spPr>
          <a:xfrm>
            <a:off x="548640" y="1874520"/>
            <a:ext cx="8046720" cy="475488"/>
          </a:xfrm>
          <a:prstGeom prst="roundRect">
            <a:avLst>
              <a:gd name="adj" fmla="val 15385"/>
            </a:avLst>
          </a:prstGeom>
          <a:solidFill>
            <a:schemeClr val="bg2"/>
          </a:solidFill>
          <a:ln w="12700">
            <a:solidFill>
              <a:schemeClr val="bg2"/>
            </a:solidFill>
            <a:prstDash val="solid"/>
          </a:ln>
        </p:spPr>
      </p:sp>
      <p:sp>
        <p:nvSpPr>
          <p:cNvPr id="8" name="Pitfall 2 circle"/>
          <p:cNvSpPr/>
          <p:nvPr/>
        </p:nvSpPr>
        <p:spPr>
          <a:xfrm>
            <a:off x="658368" y="1929384"/>
            <a:ext cx="365760" cy="365760"/>
          </a:xfrm>
          <a:prstGeom prst="ellipse">
            <a:avLst/>
          </a:prstGeom>
          <a:solidFill>
            <a:schemeClr val="accent4"/>
          </a:solidFill>
          <a:ln w="12700">
            <a:solidFill>
              <a:schemeClr val="accent4"/>
            </a:solidFill>
            <a:prstDash val="solid"/>
          </a:ln>
        </p:spPr>
      </p:sp>
      <p:sp>
        <p:nvSpPr>
          <p:cNvPr id="9" name="Pitfall 2 number"/>
          <p:cNvSpPr txBox="1"/>
          <p:nvPr/>
        </p:nvSpPr>
        <p:spPr>
          <a:xfrm>
            <a:off x="658368" y="192938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Pitfall 2 text"/>
          <p:cNvSpPr txBox="1"/>
          <p:nvPr/>
        </p:nvSpPr>
        <p:spPr>
          <a:xfrm>
            <a:off x="1188720" y="1874520"/>
            <a:ext cx="7315200" cy="475488"/>
          </a:xfrm>
          <a:prstGeom prst="rect">
            <a:avLst/>
          </a:prstGeom>
          <a:noFill/>
          <a:ln/>
        </p:spPr>
        <p:txBody>
          <a:bodyPr wrap="square" lIns="0" tIns="0" rIns="0" bIns="0" rtlCol="0" anchor="ctr"/>
          <a:lstStyle/>
          <a:p>
            <a:pPr indent="0" marL="0">
              <a:buNone/>
            </a:pPr>
            <a:r>
              <a:rPr lang="en-US" sz="1500" dirty="0">
                <a:solidFill>
                  <a:schemeClr val="tx1"/>
                </a:solidFill>
              </a:rPr>
              <a:t>Confusing P(A | B) with P(B | A)</a:t>
            </a:r>
            <a:endParaRPr lang="en-US" sz="1500" dirty="0"/>
          </a:p>
        </p:txBody>
      </p:sp>
      <p:sp>
        <p:nvSpPr>
          <p:cNvPr id="11" name="Pitfall 3 row"/>
          <p:cNvSpPr/>
          <p:nvPr/>
        </p:nvSpPr>
        <p:spPr>
          <a:xfrm>
            <a:off x="548640" y="2423160"/>
            <a:ext cx="8046720" cy="475488"/>
          </a:xfrm>
          <a:prstGeom prst="roundRect">
            <a:avLst>
              <a:gd name="adj" fmla="val 15385"/>
            </a:avLst>
          </a:prstGeom>
          <a:solidFill>
            <a:schemeClr val="bg2"/>
          </a:solidFill>
          <a:ln w="12700">
            <a:solidFill>
              <a:schemeClr val="bg2"/>
            </a:solidFill>
            <a:prstDash val="solid"/>
          </a:ln>
        </p:spPr>
      </p:sp>
      <p:sp>
        <p:nvSpPr>
          <p:cNvPr id="12" name="Pitfall 3 circle"/>
          <p:cNvSpPr/>
          <p:nvPr/>
        </p:nvSpPr>
        <p:spPr>
          <a:xfrm>
            <a:off x="658368" y="2478024"/>
            <a:ext cx="365760" cy="365760"/>
          </a:xfrm>
          <a:prstGeom prst="ellipse">
            <a:avLst/>
          </a:prstGeom>
          <a:solidFill>
            <a:schemeClr val="accent4"/>
          </a:solidFill>
          <a:ln w="12700">
            <a:solidFill>
              <a:schemeClr val="accent4"/>
            </a:solidFill>
            <a:prstDash val="solid"/>
          </a:ln>
        </p:spPr>
      </p:sp>
      <p:sp>
        <p:nvSpPr>
          <p:cNvPr id="13" name="Pitfall 3 number"/>
          <p:cNvSpPr txBox="1"/>
          <p:nvPr/>
        </p:nvSpPr>
        <p:spPr>
          <a:xfrm>
            <a:off x="658368" y="247802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Pitfall 3 text"/>
          <p:cNvSpPr txBox="1"/>
          <p:nvPr/>
        </p:nvSpPr>
        <p:spPr>
          <a:xfrm>
            <a:off x="1188720" y="2423160"/>
            <a:ext cx="7315200" cy="475488"/>
          </a:xfrm>
          <a:prstGeom prst="rect">
            <a:avLst/>
          </a:prstGeom>
          <a:noFill/>
          <a:ln/>
        </p:spPr>
        <p:txBody>
          <a:bodyPr wrap="square" lIns="0" tIns="0" rIns="0" bIns="0" rtlCol="0" anchor="ctr"/>
          <a:lstStyle/>
          <a:p>
            <a:pPr indent="0" marL="0">
              <a:buNone/>
            </a:pPr>
            <a:r>
              <a:rPr lang="en-US" sz="1500" dirty="0">
                <a:solidFill>
                  <a:schemeClr val="tx1"/>
                </a:solidFill>
              </a:rPr>
              <a:t>Ignoring selection bias: big data does not fix biased data</a:t>
            </a:r>
            <a:endParaRPr lang="en-US" sz="1500" dirty="0"/>
          </a:p>
        </p:txBody>
      </p:sp>
      <p:sp>
        <p:nvSpPr>
          <p:cNvPr id="15" name="Pitfall 4 row"/>
          <p:cNvSpPr/>
          <p:nvPr/>
        </p:nvSpPr>
        <p:spPr>
          <a:xfrm>
            <a:off x="548640" y="2971800"/>
            <a:ext cx="8046720" cy="475488"/>
          </a:xfrm>
          <a:prstGeom prst="roundRect">
            <a:avLst>
              <a:gd name="adj" fmla="val 15385"/>
            </a:avLst>
          </a:prstGeom>
          <a:solidFill>
            <a:schemeClr val="bg2"/>
          </a:solidFill>
          <a:ln w="12700">
            <a:solidFill>
              <a:schemeClr val="bg2"/>
            </a:solidFill>
            <a:prstDash val="solid"/>
          </a:ln>
        </p:spPr>
      </p:sp>
      <p:sp>
        <p:nvSpPr>
          <p:cNvPr id="16" name="Pitfall 4 circle"/>
          <p:cNvSpPr/>
          <p:nvPr/>
        </p:nvSpPr>
        <p:spPr>
          <a:xfrm>
            <a:off x="658368" y="3026664"/>
            <a:ext cx="365760" cy="365760"/>
          </a:xfrm>
          <a:prstGeom prst="ellipse">
            <a:avLst/>
          </a:prstGeom>
          <a:solidFill>
            <a:schemeClr val="accent4"/>
          </a:solidFill>
          <a:ln w="12700">
            <a:solidFill>
              <a:schemeClr val="accent4"/>
            </a:solidFill>
            <a:prstDash val="solid"/>
          </a:ln>
        </p:spPr>
      </p:sp>
      <p:sp>
        <p:nvSpPr>
          <p:cNvPr id="17" name="Pitfall 4 number"/>
          <p:cNvSpPr txBox="1"/>
          <p:nvPr/>
        </p:nvSpPr>
        <p:spPr>
          <a:xfrm>
            <a:off x="658368" y="302666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Pitfall 4 text"/>
          <p:cNvSpPr txBox="1"/>
          <p:nvPr/>
        </p:nvSpPr>
        <p:spPr>
          <a:xfrm>
            <a:off x="1188720" y="2971800"/>
            <a:ext cx="7315200" cy="475488"/>
          </a:xfrm>
          <a:prstGeom prst="rect">
            <a:avLst/>
          </a:prstGeom>
          <a:noFill/>
          <a:ln/>
        </p:spPr>
        <p:txBody>
          <a:bodyPr wrap="square" lIns="0" tIns="0" rIns="0" bIns="0" rtlCol="0" anchor="ctr"/>
          <a:lstStyle/>
          <a:p>
            <a:pPr indent="0" marL="0">
              <a:buNone/>
            </a:pPr>
            <a:r>
              <a:rPr lang="en-US" sz="1500" dirty="0">
                <a:solidFill>
                  <a:schemeClr val="tx1"/>
                </a:solidFill>
              </a:rPr>
              <a:t>Testing hypotheses on the data that suggested them</a:t>
            </a:r>
            <a:endParaRPr lang="en-US" sz="1500" dirty="0"/>
          </a:p>
        </p:txBody>
      </p:sp>
      <p:sp>
        <p:nvSpPr>
          <p:cNvPr id="19" name="Pitfall 5 row"/>
          <p:cNvSpPr/>
          <p:nvPr/>
        </p:nvSpPr>
        <p:spPr>
          <a:xfrm>
            <a:off x="548640" y="3520440"/>
            <a:ext cx="8046720" cy="475488"/>
          </a:xfrm>
          <a:prstGeom prst="roundRect">
            <a:avLst>
              <a:gd name="adj" fmla="val 15385"/>
            </a:avLst>
          </a:prstGeom>
          <a:solidFill>
            <a:schemeClr val="bg2"/>
          </a:solidFill>
          <a:ln w="12700">
            <a:solidFill>
              <a:schemeClr val="bg2"/>
            </a:solidFill>
            <a:prstDash val="solid"/>
          </a:ln>
        </p:spPr>
      </p:sp>
      <p:sp>
        <p:nvSpPr>
          <p:cNvPr id="20" name="Pitfall 5 circle"/>
          <p:cNvSpPr/>
          <p:nvPr/>
        </p:nvSpPr>
        <p:spPr>
          <a:xfrm>
            <a:off x="658368" y="3575304"/>
            <a:ext cx="365760" cy="365760"/>
          </a:xfrm>
          <a:prstGeom prst="ellipse">
            <a:avLst/>
          </a:prstGeom>
          <a:solidFill>
            <a:schemeClr val="accent4"/>
          </a:solidFill>
          <a:ln w="12700">
            <a:solidFill>
              <a:schemeClr val="accent4"/>
            </a:solidFill>
            <a:prstDash val="solid"/>
          </a:ln>
        </p:spPr>
      </p:sp>
      <p:sp>
        <p:nvSpPr>
          <p:cNvPr id="21" name="Pitfall 5 number"/>
          <p:cNvSpPr txBox="1"/>
          <p:nvPr/>
        </p:nvSpPr>
        <p:spPr>
          <a:xfrm>
            <a:off x="658368" y="357530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Pitfall 5 text"/>
          <p:cNvSpPr txBox="1"/>
          <p:nvPr/>
        </p:nvSpPr>
        <p:spPr>
          <a:xfrm>
            <a:off x="1188720" y="3520440"/>
            <a:ext cx="7315200" cy="475488"/>
          </a:xfrm>
          <a:prstGeom prst="rect">
            <a:avLst/>
          </a:prstGeom>
          <a:noFill/>
          <a:ln/>
        </p:spPr>
        <p:txBody>
          <a:bodyPr wrap="square" lIns="0" tIns="0" rIns="0" bIns="0" rtlCol="0" anchor="ctr"/>
          <a:lstStyle/>
          <a:p>
            <a:pPr indent="0" marL="0">
              <a:buNone/>
            </a:pPr>
            <a:r>
              <a:rPr lang="en-US" sz="1500" dirty="0">
                <a:solidFill>
                  <a:schemeClr val="tx1"/>
                </a:solidFill>
              </a:rPr>
              <a:t>Reading association as causation</a:t>
            </a:r>
            <a:endParaRPr lang="en-US" sz="1500" dirty="0"/>
          </a:p>
        </p:txBody>
      </p:sp>
      <p:sp>
        <p:nvSpPr>
          <p:cNvPr id="23" name="Pitfall 6 row"/>
          <p:cNvSpPr/>
          <p:nvPr/>
        </p:nvSpPr>
        <p:spPr>
          <a:xfrm>
            <a:off x="548640" y="4069080"/>
            <a:ext cx="8046720" cy="475488"/>
          </a:xfrm>
          <a:prstGeom prst="roundRect">
            <a:avLst>
              <a:gd name="adj" fmla="val 15385"/>
            </a:avLst>
          </a:prstGeom>
          <a:solidFill>
            <a:schemeClr val="bg2"/>
          </a:solidFill>
          <a:ln w="12700">
            <a:solidFill>
              <a:schemeClr val="bg2"/>
            </a:solidFill>
            <a:prstDash val="solid"/>
          </a:ln>
        </p:spPr>
      </p:sp>
      <p:sp>
        <p:nvSpPr>
          <p:cNvPr id="24" name="Pitfall 6 circle"/>
          <p:cNvSpPr/>
          <p:nvPr/>
        </p:nvSpPr>
        <p:spPr>
          <a:xfrm>
            <a:off x="658368" y="4123944"/>
            <a:ext cx="365760" cy="365760"/>
          </a:xfrm>
          <a:prstGeom prst="ellipse">
            <a:avLst/>
          </a:prstGeom>
          <a:solidFill>
            <a:schemeClr val="accent4"/>
          </a:solidFill>
          <a:ln w="12700">
            <a:solidFill>
              <a:schemeClr val="accent4"/>
            </a:solidFill>
            <a:prstDash val="solid"/>
          </a:ln>
        </p:spPr>
      </p:sp>
      <p:sp>
        <p:nvSpPr>
          <p:cNvPr id="25" name="Pitfall 6 number"/>
          <p:cNvSpPr txBox="1"/>
          <p:nvPr/>
        </p:nvSpPr>
        <p:spPr>
          <a:xfrm>
            <a:off x="658368" y="412394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6" name="Pitfall 6 text"/>
          <p:cNvSpPr txBox="1"/>
          <p:nvPr/>
        </p:nvSpPr>
        <p:spPr>
          <a:xfrm>
            <a:off x="1188720" y="4069080"/>
            <a:ext cx="7315200" cy="475488"/>
          </a:xfrm>
          <a:prstGeom prst="rect">
            <a:avLst/>
          </a:prstGeom>
          <a:noFill/>
          <a:ln/>
        </p:spPr>
        <p:txBody>
          <a:bodyPr wrap="square" lIns="0" tIns="0" rIns="0" bIns="0" rtlCol="0" anchor="ctr"/>
          <a:lstStyle/>
          <a:p>
            <a:pPr indent="0" marL="0">
              <a:buNone/>
            </a:pPr>
            <a:r>
              <a:rPr lang="en-US" sz="1500" dirty="0">
                <a:solidFill>
                  <a:schemeClr val="tx1"/>
                </a:solidFill>
              </a:rPr>
              <a:t>Reporting a prediction with no uncertainty</a:t>
            </a:r>
            <a:endParaRPr lang="en-US" sz="15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5852160" cy="2103120"/>
          </a:xfrm>
          <a:prstGeom prst="rect">
            <a:avLst/>
          </a:prstGeom>
          <a:noFill/>
          <a:ln/>
        </p:spPr>
        <p:txBody>
          <a:bodyPr wrap="square" lIns="0" tIns="0" rIns="0" bIns="0" rtlCol="0" anchor="ctr"/>
          <a:lstStyle/>
          <a:p>
            <a:pPr algn="l" indent="0" marL="0">
              <a:buNone/>
            </a:pPr>
            <a:r>
              <a:rPr lang="en-US" sz="4200" b="1" dirty="0">
                <a:solidFill>
                  <a:schemeClr val="bg1"/>
                </a:solidFill>
              </a:rPr>
              <a:t>Probability separates what we find from what we merely see</a:t>
            </a:r>
            <a:endParaRPr lang="en-US" sz="4200" dirty="0"/>
          </a:p>
        </p:txBody>
      </p:sp>
      <p:sp>
        <p:nvSpPr>
          <p:cNvPr id="3" name="Text 0"/>
          <p:cNvSpPr/>
          <p:nvPr>
            <p:ph idx="101" type="body" hasCustomPrompt="1"/>
          </p:nvPr>
        </p:nvSpPr>
        <p:spPr>
          <a:xfrm>
            <a:off x="640080" y="3337560"/>
            <a:ext cx="5852160" cy="914400"/>
          </a:xfrm>
          <a:prstGeom prst="rect">
            <a:avLst/>
          </a:prstGeom>
          <a:noFill/>
          <a:ln/>
        </p:spPr>
        <p:txBody>
          <a:bodyPr wrap="square" lIns="0" tIns="0" rIns="0" bIns="0" rtlCol="0" anchor="t"/>
          <a:lstStyle/>
          <a:p>
            <a:pPr algn="l" indent="0" marL="0">
              <a:buNone/>
            </a:pPr>
            <a:r>
              <a:rPr lang="en-US" sz="1800" dirty="0">
                <a:solidFill>
                  <a:schemeClr val="bg2"/>
                </a:solidFill>
              </a:rPr>
              <a:t>Summary</a:t>
            </a:r>
            <a:endParaRPr lang="en-US" sz="1800" dirty="0"/>
          </a:p>
        </p:txBody>
      </p:sp>
      <p:sp>
        <p:nvSpPr>
          <p:cNvPr id="4" name="Closing circle"/>
          <p:cNvSpPr/>
          <p:nvPr/>
        </p:nvSpPr>
        <p:spPr>
          <a:xfrm>
            <a:off x="6766560" y="1097280"/>
            <a:ext cx="2011680" cy="2011680"/>
          </a:xfrm>
          <a:prstGeom prst="ellipse">
            <a:avLst/>
          </a:prstGeom>
          <a:solidFill>
            <a:schemeClr val="accent2"/>
          </a:solidFill>
          <a:ln w="12700">
            <a:solidFill>
              <a:schemeClr val="accent2"/>
            </a:solidFill>
            <a:prstDash val="solid"/>
          </a:ln>
        </p:spPr>
      </p:sp>
      <p:pic>
        <p:nvPicPr>
          <p:cNvPr id="5" name="Closing icon" descr="Eye icon">    </p:cNvPr>
          <p:cNvPicPr>
            <a:picLocks noChangeAspect="1"/>
          </p:cNvPicPr>
          <p:nvPr/>
        </p:nvPicPr>
        <p:blipFill>
          <a:blip r:embed="rId1"/>
          <a:stretch>
            <a:fillRect/>
          </a:stretch>
        </p:blipFill>
        <p:spPr>
          <a:xfrm>
            <a:off x="7269480" y="1600200"/>
            <a:ext cx="1005840" cy="1005840"/>
          </a:xfrm>
          <a:prstGeom prst="rect">
            <a:avLst/>
          </a:prstGeom>
        </p:spPr>
      </p:pic>
    </p:spTree>
  </p:cSld>
  <p:clrMapOvr>
    <a:masterClrMapping/>
  </p:clrMapOvr>
</p:sld>
</file>

<file path=ppt/theme/theme1.xml><?xml version="1.0" encoding="utf-8"?>
<a:theme xmlns:a="http://schemas.openxmlformats.org/drawingml/2006/main" name="Probability for Data Mining">
  <a:themeElements>
    <a:clrScheme name="Probability for Data Mining">
      <a:dk1>
        <a:srgbClr val="16222E"/>
      </a:dk1>
      <a:lt1>
        <a:srgbClr val="FFFFFF"/>
      </a:lt1>
      <a:dk2>
        <a:srgbClr val="0B2F3A"/>
      </a:dk2>
      <a:lt2>
        <a:srgbClr val="EAF2F4"/>
      </a:lt2>
      <a:accent1>
        <a:srgbClr val="F2A541"/>
      </a:accent1>
      <a:accent2>
        <a:srgbClr val="1B998B"/>
      </a:accent2>
      <a:accent3>
        <a:srgbClr val="3066BE"/>
      </a:accent3>
      <a:accent4>
        <a:srgbClr val="E4572E"/>
      </a:accent4>
      <a:accent5>
        <a:srgbClr val="6B7F8C"/>
      </a:accent5>
      <a:accent6>
        <a:srgbClr val="7768AE"/>
      </a:accent6>
      <a:hlink>
        <a:srgbClr val="3066BE"/>
      </a:hlink>
      <a:folHlink>
        <a:srgbClr val="6B7F8C"/>
      </a:folHlink>
    </a:clrScheme>
    <a:fontScheme name="Probability for Data Min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 Overview for Data Mining</dc:title>
  <dc:subject>PptxGenJS Presentation</dc:subject>
  <dc:creator>PptxGenJS</dc:creator>
  <cp:lastModifiedBy>PptxGenJS</cp:lastModifiedBy>
  <cp:revision>1</cp:revision>
  <dcterms:created xsi:type="dcterms:W3CDTF">2026-10-03T18:19:18Z</dcterms:created>
  <dcterms:modified xsi:type="dcterms:W3CDTF">2026-10-03T18:19:18Z</dcterms:modified>
</cp:coreProperties>
</file>